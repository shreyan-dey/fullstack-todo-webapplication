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7562088" cy="10689336"/>
  <p:notesSz cx="10689336" cy="7562088"/>
  <p:embeddedFontLst>
    <p:embeddedFont>
      <p:font typeface="Nunito Light"/>
      <p:regular r:id="rId201314"/>
    </p:embeddedFont>
    <p:embeddedFont>
      <p:font typeface="Nunito"/>
      <p:regular r:id="rId201315"/>
    </p:embeddedFont>
    <p:embeddedFont>
      <p:font typeface="Nunito Medium"/>
      <p:regular r:id="rId201316"/>
    </p:embeddedFont>
    <p:embeddedFont>
      <p:font typeface="Nunito SemiBold"/>
      <p:regular r:id="rId201317"/>
    </p:embeddedFont>
    <p:embeddedFont>
      <p:font typeface="Nunito Bold"/>
      <p:regular r:id="rId201318"/>
    </p:embeddedFont>
    <p:embeddedFont>
      <p:font typeface="Nunito ExtraBold"/>
      <p:regular r:id="rId201319"/>
    </p:embeddedFont>
    <p:embeddedFont>
      <p:font typeface="Nunito Black"/>
      <p:regular r:id="rId201320"/>
    </p:embeddedFont>
    <p:embeddedFont>
      <p:font typeface="Nunito ExtraLight"/>
      <p:regular r:id="rId201321"/>
    </p:embeddedFont>
    <p:embeddedFont>
      <p:font typeface="PT Sans"/>
      <p:regular r:id="rId201322"/>
    </p:embeddedFont>
    <p:embeddedFont>
      <p:font typeface="PT Sans Bold"/>
      <p:regular r:id="rId2013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562026" cy="10689336"/>
          </a:xfrm>
          <a:prstGeom prst="rect">
            <a:avLst/>
          </a:prstGeom>
        </p:spPr>
      </p:pic>
      <p:sp>
        <p:nvSpPr>
          <p:cNvPr id="3" name="Shape 0"/>
          <p:cNvSpPr/>
          <p:nvPr/>
        </p:nvSpPr>
        <p:spPr>
          <a:xfrm>
            <a:off x="0" y="0"/>
            <a:ext cx="7562026" cy="10689336"/>
          </a:xfrm>
          <a:prstGeom prst="rect">
            <a:avLst/>
          </a:prstGeom>
          <a:solidFill>
            <a:srgbClr val="F3F3FF">
              <a:alpha val="75000"/>
            </a:srgbClr>
          </a:solidFill>
          <a:ln/>
        </p:spPr>
      </p:sp>
      <p:pic>
        <p:nvPicPr>
          <p:cNvPr id="4" name="Image 1" descr="preencoded.png">    </p:cNvPr>
          <p:cNvPicPr>
            <a:picLocks noChangeAspect="1"/>
          </p:cNvPicPr>
          <p:nvPr/>
        </p:nvPicPr>
        <p:blipFill>
          <a:blip r:embed="rId2"/>
          <a:stretch>
            <a:fillRect/>
          </a:stretch>
        </p:blipFill>
        <p:spPr>
          <a:xfrm>
            <a:off x="0" y="0"/>
            <a:ext cx="7562026" cy="10689336"/>
          </a:xfrm>
          <a:prstGeom prst="rect">
            <a:avLst/>
          </a:prstGeom>
        </p:spPr>
      </p:pic>
      <p:sp>
        <p:nvSpPr>
          <p:cNvPr id="5" name="Shape 1"/>
          <p:cNvSpPr/>
          <p:nvPr/>
        </p:nvSpPr>
        <p:spPr>
          <a:xfrm>
            <a:off x="0" y="0"/>
            <a:ext cx="7562026" cy="10689336"/>
          </a:xfrm>
          <a:prstGeom prst="rect">
            <a:avLst/>
          </a:prstGeom>
          <a:solidFill>
            <a:srgbClr val="F3F3FF">
              <a:alpha val="85000"/>
            </a:srgbClr>
          </a:solidFill>
          <a:ln/>
        </p:spPr>
      </p:sp>
      <p:pic>
        <p:nvPicPr>
          <p:cNvPr id="6" name="Image 2" descr="preencoded.png">
            <a:hlinkClick r:id="rId4" tooltip=""/>
          </p:cNvPr>
          <p:cNvPicPr>
            <a:picLocks noChangeAspect="1"/>
          </p:cNvPicPr>
          <p:nvPr/>
        </p:nvPicPr>
        <p:blipFill>
          <a:blip r:embed="rId3"/>
          <a:stretch>
            <a:fillRect/>
          </a:stretch>
        </p:blipFill>
        <p:spPr>
          <a:xfrm>
            <a:off x="6447268" y="10390327"/>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562026" cy="10689336"/>
          </a:xfrm>
          <a:prstGeom prst="rect">
            <a:avLst/>
          </a:prstGeom>
        </p:spPr>
      </p:pic>
      <p:sp>
        <p:nvSpPr>
          <p:cNvPr id="3" name="Shape 0"/>
          <p:cNvSpPr/>
          <p:nvPr/>
        </p:nvSpPr>
        <p:spPr>
          <a:xfrm>
            <a:off x="0" y="0"/>
            <a:ext cx="7562026" cy="10689336"/>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6447268" y="10390327"/>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3.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11832" y="402167"/>
            <a:ext cx="6538363" cy="430168"/>
          </a:xfrm>
          <a:prstGeom prst="rect">
            <a:avLst/>
          </a:prstGeom>
          <a:noFill/>
          <a:ln/>
        </p:spPr>
        <p:txBody>
          <a:bodyPr wrap="none" lIns="0" tIns="0" rIns="0" bIns="0" rtlCol="0" anchor="t"/>
          <a:lstStyle/>
          <a:p>
            <a:pPr algn="l" indent="0" marL="0">
              <a:lnSpc>
                <a:spcPct val="104000"/>
              </a:lnSpc>
              <a:buNone/>
            </a:pPr>
            <a:r>
              <a:rPr lang="en-US" sz="2700" dirty="0">
                <a:solidFill>
                  <a:srgbClr val="00002E"/>
                </a:solidFill>
                <a:latin typeface="Nunito SemiBold" pitchFamily="34" charset="0"/>
                <a:ea typeface="Nunito SemiBold" pitchFamily="34" charset="-122"/>
                <a:cs typeface="Nunito SemiBold" pitchFamily="34" charset="-120"/>
              </a:rPr>
              <a:t>Smart Task Manager</a:t>
            </a:r>
            <a:endParaRPr lang="en-US" sz="2700" dirty="0"/>
          </a:p>
        </p:txBody>
      </p:sp>
      <p:sp>
        <p:nvSpPr>
          <p:cNvPr id="3" name="Shape 1"/>
          <p:cNvSpPr/>
          <p:nvPr/>
        </p:nvSpPr>
        <p:spPr>
          <a:xfrm>
            <a:off x="511832" y="1051665"/>
            <a:ext cx="1744671" cy="222161"/>
          </a:xfrm>
          <a:prstGeom prst="roundRect">
            <a:avLst>
              <a:gd name="adj" fmla="val 78998"/>
            </a:avLst>
          </a:prstGeom>
          <a:solidFill>
            <a:srgbClr val="CFD6FC"/>
          </a:solidFill>
          <a:ln/>
        </p:spPr>
      </p:sp>
      <p:sp>
        <p:nvSpPr>
          <p:cNvPr id="4" name="Text 2"/>
          <p:cNvSpPr/>
          <p:nvPr/>
        </p:nvSpPr>
        <p:spPr>
          <a:xfrm>
            <a:off x="599527" y="1095482"/>
            <a:ext cx="1947385" cy="134527"/>
          </a:xfrm>
          <a:prstGeom prst="rect">
            <a:avLst/>
          </a:prstGeom>
          <a:noFill/>
          <a:ln/>
        </p:spPr>
        <p:txBody>
          <a:bodyPr wrap="none" lIns="0" tIns="0" rIns="0" bIns="0" rtlCol="0" anchor="t"/>
          <a:lstStyle/>
          <a:p>
            <a:pPr algn="l" indent="0" marL="0">
              <a:lnSpc>
                <a:spcPct val="96000"/>
              </a:lnSpc>
              <a:buNone/>
            </a:pPr>
            <a:r>
              <a:rPr lang="en-US" sz="900" dirty="0">
                <a:solidFill>
                  <a:srgbClr val="00002E"/>
                </a:solidFill>
                <a:latin typeface="PT Sans" pitchFamily="34" charset="0"/>
                <a:ea typeface="PT Sans" pitchFamily="34" charset="-122"/>
                <a:cs typeface="PT Sans" pitchFamily="34" charset="-120"/>
              </a:rPr>
              <a:t>FULL-STACK WEB APPLICATION</a:t>
            </a:r>
            <a:endParaRPr lang="en-US" sz="900" dirty="0"/>
          </a:p>
        </p:txBody>
      </p:sp>
      <p:sp>
        <p:nvSpPr>
          <p:cNvPr id="5" name="Shape 3"/>
          <p:cNvSpPr/>
          <p:nvPr/>
        </p:nvSpPr>
        <p:spPr>
          <a:xfrm>
            <a:off x="2329613" y="1051665"/>
            <a:ext cx="2083205" cy="222161"/>
          </a:xfrm>
          <a:prstGeom prst="roundRect">
            <a:avLst>
              <a:gd name="adj" fmla="val 78998"/>
            </a:avLst>
          </a:prstGeom>
          <a:noFill/>
          <a:ln w="11816">
            <a:solidFill>
              <a:srgbClr val="2D4DF2"/>
            </a:solidFill>
            <a:prstDash val="solid"/>
          </a:ln>
        </p:spPr>
      </p:sp>
      <p:sp>
        <p:nvSpPr>
          <p:cNvPr id="6" name="Text 4"/>
          <p:cNvSpPr/>
          <p:nvPr/>
        </p:nvSpPr>
        <p:spPr>
          <a:xfrm>
            <a:off x="2417308" y="1095482"/>
            <a:ext cx="2285919" cy="134527"/>
          </a:xfrm>
          <a:prstGeom prst="rect">
            <a:avLst/>
          </a:prstGeom>
          <a:noFill/>
          <a:ln/>
        </p:spPr>
        <p:txBody>
          <a:bodyPr wrap="none" lIns="0" tIns="0" rIns="0" bIns="0" rtlCol="0" anchor="t"/>
          <a:lstStyle/>
          <a:p>
            <a:pPr algn="l" indent="0" marL="0">
              <a:lnSpc>
                <a:spcPct val="96000"/>
              </a:lnSpc>
              <a:buNone/>
            </a:pPr>
            <a:r>
              <a:rPr lang="en-US" sz="900" dirty="0">
                <a:solidFill>
                  <a:srgbClr val="2D4DF2"/>
                </a:solidFill>
                <a:latin typeface="PT Sans" pitchFamily="34" charset="0"/>
                <a:ea typeface="PT Sans" pitchFamily="34" charset="-122"/>
                <a:cs typeface="PT Sans" pitchFamily="34" charset="-120"/>
              </a:rPr>
              <a:t>SYSTEM ARCHITECTURE &amp; PLANNING</a:t>
            </a:r>
            <a:endParaRPr lang="en-US" sz="900" dirty="0"/>
          </a:p>
        </p:txBody>
      </p:sp>
      <p:sp>
        <p:nvSpPr>
          <p:cNvPr id="7" name="Text 5"/>
          <p:cNvSpPr/>
          <p:nvPr/>
        </p:nvSpPr>
        <p:spPr>
          <a:xfrm>
            <a:off x="511832" y="1438324"/>
            <a:ext cx="6538363" cy="1404231"/>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2E"/>
                </a:solidFill>
                <a:latin typeface="PT Sans" pitchFamily="34" charset="0"/>
                <a:ea typeface="PT Sans" pitchFamily="34" charset="-122"/>
                <a:cs typeface="PT Sans" pitchFamily="34" charset="-120"/>
              </a:rPr>
              <a:t>Smart Task Manager is a full-stack web application designed to help users organize and manage their daily tasks efficiently. This document outlines the complete project planning and system architecture — covering project objectives, functional and non-functional requirements, user flowcharts, wireframes, technical architecture, database schema, API design, design rationale, and conclusion. The application provides a simple and intuitive interface where users can create, update, delete, and monitor their tasks from a centralized dashboard, with secure user authentication and personalized task lists.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11832" y="402167"/>
            <a:ext cx="6538363" cy="408629"/>
          </a:xfrm>
          <a:prstGeom prst="rect">
            <a:avLst/>
          </a:prstGeom>
          <a:noFill/>
          <a:ln/>
        </p:spPr>
        <p:txBody>
          <a:bodyPr wrap="none" lIns="0" tIns="0" rIns="0" bIns="0" rtlCol="0" anchor="t"/>
          <a:lstStyle/>
          <a:p>
            <a:pPr algn="l" indent="0" marL="0">
              <a:lnSpc>
                <a:spcPct val="104000"/>
              </a:lnSpc>
              <a:buNone/>
            </a:pPr>
            <a:r>
              <a:rPr lang="en-US" sz="2550" dirty="0">
                <a:solidFill>
                  <a:srgbClr val="00002E"/>
                </a:solidFill>
                <a:latin typeface="Nunito SemiBold" pitchFamily="34" charset="0"/>
                <a:ea typeface="Nunito SemiBold" pitchFamily="34" charset="-122"/>
                <a:cs typeface="Nunito SemiBold" pitchFamily="34" charset="-120"/>
              </a:rPr>
              <a:t>Project Brief &amp; Objectives</a:t>
            </a:r>
            <a:endParaRPr lang="en-US" sz="2550" dirty="0"/>
          </a:p>
        </p:txBody>
      </p:sp>
      <p:sp>
        <p:nvSpPr>
          <p:cNvPr id="3" name="Text 1"/>
          <p:cNvSpPr/>
          <p:nvPr/>
        </p:nvSpPr>
        <p:spPr>
          <a:xfrm>
            <a:off x="511832" y="1074743"/>
            <a:ext cx="6538363" cy="2532637"/>
          </a:xfrm>
          <a:prstGeom prst="rect">
            <a:avLst/>
          </a:prstGeom>
          <a:noFill/>
          <a:ln/>
        </p:spPr>
        <p:txBody>
          <a:bodyPr wrap="square" lIns="0" tIns="0" rIns="0" bIns="0" rtlCol="0" anchor="t">
            <a:normAutofit/>
          </a:bodyPr>
          <a:lstStyle/>
          <a:p>
            <a:pPr algn="l" indent="0" marL="0">
              <a:lnSpc>
                <a:spcPct val="130000"/>
              </a:lnSpc>
              <a:spcAft>
                <a:spcPts val="1150"/>
              </a:spcAft>
              <a:buNone/>
            </a:pPr>
            <a:r>
              <a:rPr lang="en-US" sz="1050" dirty="0">
                <a:solidFill>
                  <a:srgbClr val="00002E"/>
                </a:solidFill>
                <a:latin typeface="PT Sans" pitchFamily="34" charset="0"/>
                <a:ea typeface="PT Sans" pitchFamily="34" charset="-122"/>
                <a:cs typeface="PT Sans" pitchFamily="34" charset="-120"/>
              </a:rPr>
              <a:t>Smart Task Manager is a full-stack web application designed to help users organize and manage their daily tasks efficiently. The application provides a simple and intuitive interface where users can create, update, delete, and monitor their tasks from a centralized dashboard. It supports secure user authentication, allowing each user to maintain a personalized task list. Users can categorize tasks, assign priorities, set due dates, and monitor their progress. The primary goal of the application is to improve productivity by providing a structured and organized task management system.</a:t>
            </a:r>
            <a:endParaRPr lang="en-US" sz="1050" dirty="0"/>
          </a:p>
          <a:p>
            <a:pPr algn="l" indent="0" marL="0">
              <a:lnSpc>
                <a:spcPct val="130000"/>
              </a:lnSpc>
              <a:buNone/>
            </a:pPr>
            <a:r>
              <a:rPr lang="en-US" sz="1050" dirty="0">
                <a:solidFill>
                  <a:srgbClr val="00002E"/>
                </a:solidFill>
                <a:latin typeface="PT Sans" pitchFamily="34" charset="0"/>
                <a:ea typeface="PT Sans" pitchFamily="34" charset="-122"/>
                <a:cs typeface="PT Sans" pitchFamily="34" charset="-120"/>
              </a:rPr>
              <a:t>Many individuals struggle to organize their daily work and often forget important deadlines due to poor task management. Existing productivity applications may include unnecessary complexity or paid features that discourage regular use. The Smart Task Manager aims to provide a simple, secure, and user-friendly solution that enables users to effectively organize, prioritize, and monitor their daily tasks without unnecessary complications.</a:t>
            </a:r>
            <a:endParaRPr lang="en-US" sz="1050" dirty="0"/>
          </a:p>
        </p:txBody>
      </p:sp>
      <p:sp>
        <p:nvSpPr>
          <p:cNvPr id="4" name="Shape 2"/>
          <p:cNvSpPr/>
          <p:nvPr/>
        </p:nvSpPr>
        <p:spPr>
          <a:xfrm>
            <a:off x="511832" y="3755816"/>
            <a:ext cx="2091452" cy="1676486"/>
          </a:xfrm>
          <a:prstGeom prst="roundRect">
            <a:avLst>
              <a:gd name="adj" fmla="val 12431"/>
            </a:avLst>
          </a:prstGeom>
          <a:solidFill>
            <a:srgbClr val="F3F3FF"/>
          </a:solidFill>
          <a:ln w="15754">
            <a:solidFill>
              <a:srgbClr val="2D4DF2"/>
            </a:solidFill>
            <a:prstDash val="solid"/>
          </a:ln>
        </p:spPr>
      </p:sp>
      <p:sp>
        <p:nvSpPr>
          <p:cNvPr id="5" name="Text 3"/>
          <p:cNvSpPr/>
          <p:nvPr/>
        </p:nvSpPr>
        <p:spPr>
          <a:xfrm>
            <a:off x="666483" y="3910467"/>
            <a:ext cx="1782149" cy="204314"/>
          </a:xfrm>
          <a:prstGeom prst="rect">
            <a:avLst/>
          </a:prstGeom>
          <a:noFill/>
          <a:ln/>
        </p:spPr>
        <p:txBody>
          <a:bodyPr wrap="none" lIns="0" tIns="0" rIns="0" bIns="0" rtlCol="0" anchor="t"/>
          <a:lstStyle/>
          <a:p>
            <a:pPr algn="l" indent="0" marL="0">
              <a:lnSpc>
                <a:spcPct val="104000"/>
              </a:lnSpc>
              <a:buNone/>
            </a:pPr>
            <a:r>
              <a:rPr lang="en-US" sz="1250" dirty="0">
                <a:solidFill>
                  <a:srgbClr val="00002E"/>
                </a:solidFill>
                <a:latin typeface="Nunito SemiBold" pitchFamily="34" charset="0"/>
                <a:ea typeface="Nunito SemiBold" pitchFamily="34" charset="-122"/>
                <a:cs typeface="Nunito SemiBold" pitchFamily="34" charset="-120"/>
              </a:rPr>
              <a:t>Modern Full-Stack App</a:t>
            </a:r>
            <a:endParaRPr lang="en-US" sz="1250" dirty="0"/>
          </a:p>
        </p:txBody>
      </p:sp>
      <p:sp>
        <p:nvSpPr>
          <p:cNvPr id="6" name="Text 4"/>
          <p:cNvSpPr/>
          <p:nvPr/>
        </p:nvSpPr>
        <p:spPr>
          <a:xfrm>
            <a:off x="666483" y="4193922"/>
            <a:ext cx="1782149" cy="1083728"/>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00002E"/>
                </a:solidFill>
                <a:latin typeface="PT Sans" pitchFamily="34" charset="0"/>
                <a:ea typeface="PT Sans" pitchFamily="34" charset="-122"/>
                <a:cs typeface="PT Sans" pitchFamily="34" charset="-120"/>
              </a:rPr>
              <a:t>Develop a modern full-stack web application using React, Node.js, Express, and MongoDB with a unified JavaScript stack.</a:t>
            </a:r>
            <a:endParaRPr lang="en-US" sz="1050" dirty="0"/>
          </a:p>
        </p:txBody>
      </p:sp>
      <p:sp>
        <p:nvSpPr>
          <p:cNvPr id="7" name="Shape 5"/>
          <p:cNvSpPr/>
          <p:nvPr/>
        </p:nvSpPr>
        <p:spPr>
          <a:xfrm>
            <a:off x="2735226" y="3755816"/>
            <a:ext cx="2091513" cy="1676486"/>
          </a:xfrm>
          <a:prstGeom prst="roundRect">
            <a:avLst>
              <a:gd name="adj" fmla="val 12431"/>
            </a:avLst>
          </a:prstGeom>
          <a:solidFill>
            <a:srgbClr val="F3F3FF"/>
          </a:solidFill>
          <a:ln w="15754">
            <a:solidFill>
              <a:srgbClr val="018CE1"/>
            </a:solidFill>
            <a:prstDash val="solid"/>
          </a:ln>
        </p:spPr>
      </p:sp>
      <p:sp>
        <p:nvSpPr>
          <p:cNvPr id="8" name="Text 6"/>
          <p:cNvSpPr/>
          <p:nvPr/>
        </p:nvSpPr>
        <p:spPr>
          <a:xfrm>
            <a:off x="2889877" y="3910467"/>
            <a:ext cx="1782211" cy="204314"/>
          </a:xfrm>
          <a:prstGeom prst="rect">
            <a:avLst/>
          </a:prstGeom>
          <a:noFill/>
          <a:ln/>
        </p:spPr>
        <p:txBody>
          <a:bodyPr wrap="none" lIns="0" tIns="0" rIns="0" bIns="0" rtlCol="0" anchor="t"/>
          <a:lstStyle/>
          <a:p>
            <a:pPr algn="l" indent="0" marL="0">
              <a:lnSpc>
                <a:spcPct val="104000"/>
              </a:lnSpc>
              <a:buNone/>
            </a:pPr>
            <a:r>
              <a:rPr lang="en-US" sz="1250" dirty="0">
                <a:solidFill>
                  <a:srgbClr val="00002E"/>
                </a:solidFill>
                <a:latin typeface="Nunito SemiBold" pitchFamily="34" charset="0"/>
                <a:ea typeface="Nunito SemiBold" pitchFamily="34" charset="-122"/>
                <a:cs typeface="Nunito SemiBold" pitchFamily="34" charset="-120"/>
              </a:rPr>
              <a:t>Secure Authentication</a:t>
            </a:r>
            <a:endParaRPr lang="en-US" sz="1250" dirty="0"/>
          </a:p>
        </p:txBody>
      </p:sp>
      <p:sp>
        <p:nvSpPr>
          <p:cNvPr id="9" name="Text 7"/>
          <p:cNvSpPr/>
          <p:nvPr/>
        </p:nvSpPr>
        <p:spPr>
          <a:xfrm>
            <a:off x="2889877" y="4193922"/>
            <a:ext cx="1782211" cy="1083728"/>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00002E"/>
                </a:solidFill>
                <a:latin typeface="PT Sans" pitchFamily="34" charset="0"/>
                <a:ea typeface="PT Sans" pitchFamily="34" charset="-122"/>
                <a:cs typeface="PT Sans" pitchFamily="34" charset="-120"/>
              </a:rPr>
              <a:t>Implement secure user authentication using JWT tokens and bcrypt password hashing to protect user accounts.</a:t>
            </a:r>
            <a:endParaRPr lang="en-US" sz="1050" dirty="0"/>
          </a:p>
        </p:txBody>
      </p:sp>
      <p:sp>
        <p:nvSpPr>
          <p:cNvPr id="10" name="Shape 8"/>
          <p:cNvSpPr/>
          <p:nvPr/>
        </p:nvSpPr>
        <p:spPr>
          <a:xfrm>
            <a:off x="4958682" y="3755816"/>
            <a:ext cx="2091452" cy="1676486"/>
          </a:xfrm>
          <a:prstGeom prst="roundRect">
            <a:avLst>
              <a:gd name="adj" fmla="val 12431"/>
            </a:avLst>
          </a:prstGeom>
          <a:solidFill>
            <a:srgbClr val="F3F3FF"/>
          </a:solidFill>
          <a:ln w="15754">
            <a:solidFill>
              <a:srgbClr val="DA33BF"/>
            </a:solidFill>
            <a:prstDash val="solid"/>
          </a:ln>
        </p:spPr>
      </p:sp>
      <p:sp>
        <p:nvSpPr>
          <p:cNvPr id="11" name="Text 9"/>
          <p:cNvSpPr/>
          <p:nvPr/>
        </p:nvSpPr>
        <p:spPr>
          <a:xfrm>
            <a:off x="5113333" y="3910467"/>
            <a:ext cx="1782149" cy="408629"/>
          </a:xfrm>
          <a:prstGeom prst="rect">
            <a:avLst/>
          </a:prstGeom>
          <a:noFill/>
          <a:ln/>
        </p:spPr>
        <p:txBody>
          <a:bodyPr wrap="square" lIns="0" tIns="0" rIns="0" bIns="0" rtlCol="0" anchor="t">
            <a:normAutofit/>
          </a:bodyPr>
          <a:lstStyle/>
          <a:p>
            <a:pPr algn="l" indent="0" marL="0">
              <a:lnSpc>
                <a:spcPct val="104000"/>
              </a:lnSpc>
              <a:buNone/>
            </a:pPr>
            <a:r>
              <a:rPr lang="en-US" sz="1250" dirty="0">
                <a:solidFill>
                  <a:srgbClr val="00002E"/>
                </a:solidFill>
                <a:latin typeface="Nunito SemiBold" pitchFamily="34" charset="0"/>
                <a:ea typeface="Nunito SemiBold" pitchFamily="34" charset="-122"/>
                <a:cs typeface="Nunito SemiBold" pitchFamily="34" charset="-120"/>
              </a:rPr>
              <a:t>Complete CRUD Operations</a:t>
            </a:r>
            <a:endParaRPr lang="en-US" sz="1250" dirty="0"/>
          </a:p>
        </p:txBody>
      </p:sp>
      <p:sp>
        <p:nvSpPr>
          <p:cNvPr id="12" name="Text 10"/>
          <p:cNvSpPr/>
          <p:nvPr/>
        </p:nvSpPr>
        <p:spPr>
          <a:xfrm>
            <a:off x="5113333" y="4398237"/>
            <a:ext cx="1782149" cy="866982"/>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00002E"/>
                </a:solidFill>
                <a:latin typeface="PT Sans" pitchFamily="34" charset="0"/>
                <a:ea typeface="PT Sans" pitchFamily="34" charset="-122"/>
                <a:cs typeface="PT Sans" pitchFamily="34" charset="-120"/>
              </a:rPr>
              <a:t>Allow users to perform complete create, read, update, and delete operations on tasks through a RESTful API.</a:t>
            </a:r>
            <a:endParaRPr lang="en-US" sz="1050" dirty="0"/>
          </a:p>
        </p:txBody>
      </p:sp>
      <p:sp>
        <p:nvSpPr>
          <p:cNvPr id="13" name="Shape 11"/>
          <p:cNvSpPr/>
          <p:nvPr/>
        </p:nvSpPr>
        <p:spPr>
          <a:xfrm>
            <a:off x="511832" y="5564244"/>
            <a:ext cx="2091452" cy="1664055"/>
          </a:xfrm>
          <a:prstGeom prst="roundRect">
            <a:avLst>
              <a:gd name="adj" fmla="val 12524"/>
            </a:avLst>
          </a:prstGeom>
          <a:solidFill>
            <a:srgbClr val="F3F3FF"/>
          </a:solidFill>
          <a:ln w="15754">
            <a:solidFill>
              <a:srgbClr val="2D4DF2"/>
            </a:solidFill>
            <a:prstDash val="solid"/>
          </a:ln>
        </p:spPr>
      </p:sp>
      <p:sp>
        <p:nvSpPr>
          <p:cNvPr id="14" name="Text 12"/>
          <p:cNvSpPr/>
          <p:nvPr/>
        </p:nvSpPr>
        <p:spPr>
          <a:xfrm>
            <a:off x="666483" y="5718896"/>
            <a:ext cx="1782149" cy="408629"/>
          </a:xfrm>
          <a:prstGeom prst="rect">
            <a:avLst/>
          </a:prstGeom>
          <a:noFill/>
          <a:ln/>
        </p:spPr>
        <p:txBody>
          <a:bodyPr wrap="square" lIns="0" tIns="0" rIns="0" bIns="0" rtlCol="0" anchor="t">
            <a:normAutofit/>
          </a:bodyPr>
          <a:lstStyle/>
          <a:p>
            <a:pPr algn="l" indent="0" marL="0">
              <a:lnSpc>
                <a:spcPct val="104000"/>
              </a:lnSpc>
              <a:buNone/>
            </a:pPr>
            <a:r>
              <a:rPr lang="en-US" sz="1250" dirty="0">
                <a:solidFill>
                  <a:srgbClr val="00002E"/>
                </a:solidFill>
                <a:latin typeface="Nunito SemiBold" pitchFamily="34" charset="0"/>
                <a:ea typeface="Nunito SemiBold" pitchFamily="34" charset="-122"/>
                <a:cs typeface="Nunito SemiBold" pitchFamily="34" charset="-120"/>
              </a:rPr>
              <a:t>Task Categorization &amp; Prioritization</a:t>
            </a:r>
            <a:endParaRPr lang="en-US" sz="1250" dirty="0"/>
          </a:p>
        </p:txBody>
      </p:sp>
      <p:sp>
        <p:nvSpPr>
          <p:cNvPr id="15" name="Text 13"/>
          <p:cNvSpPr/>
          <p:nvPr/>
        </p:nvSpPr>
        <p:spPr>
          <a:xfrm>
            <a:off x="666483" y="6206666"/>
            <a:ext cx="1782149" cy="866982"/>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00002E"/>
                </a:solidFill>
                <a:latin typeface="PT Sans" pitchFamily="34" charset="0"/>
                <a:ea typeface="PT Sans" pitchFamily="34" charset="-122"/>
                <a:cs typeface="PT Sans" pitchFamily="34" charset="-120"/>
              </a:rPr>
              <a:t>Provide task categorization, priority assignment, and due date management to help users stay organized.</a:t>
            </a:r>
            <a:endParaRPr lang="en-US" sz="1050" dirty="0"/>
          </a:p>
        </p:txBody>
      </p:sp>
      <p:sp>
        <p:nvSpPr>
          <p:cNvPr id="16" name="Shape 14"/>
          <p:cNvSpPr/>
          <p:nvPr/>
        </p:nvSpPr>
        <p:spPr>
          <a:xfrm>
            <a:off x="2735226" y="5564244"/>
            <a:ext cx="2091513" cy="1664055"/>
          </a:xfrm>
          <a:prstGeom prst="roundRect">
            <a:avLst>
              <a:gd name="adj" fmla="val 12524"/>
            </a:avLst>
          </a:prstGeom>
          <a:solidFill>
            <a:srgbClr val="F3F3FF"/>
          </a:solidFill>
          <a:ln w="15754">
            <a:solidFill>
              <a:srgbClr val="018CE1"/>
            </a:solidFill>
            <a:prstDash val="solid"/>
          </a:ln>
        </p:spPr>
      </p:sp>
      <p:sp>
        <p:nvSpPr>
          <p:cNvPr id="17" name="Text 15"/>
          <p:cNvSpPr/>
          <p:nvPr/>
        </p:nvSpPr>
        <p:spPr>
          <a:xfrm>
            <a:off x="2889877" y="5718896"/>
            <a:ext cx="1782211" cy="408629"/>
          </a:xfrm>
          <a:prstGeom prst="rect">
            <a:avLst/>
          </a:prstGeom>
          <a:noFill/>
          <a:ln/>
        </p:spPr>
        <p:txBody>
          <a:bodyPr wrap="square" lIns="0" tIns="0" rIns="0" bIns="0" rtlCol="0" anchor="t">
            <a:normAutofit/>
          </a:bodyPr>
          <a:lstStyle/>
          <a:p>
            <a:pPr algn="l" indent="0" marL="0">
              <a:lnSpc>
                <a:spcPct val="104000"/>
              </a:lnSpc>
              <a:buNone/>
            </a:pPr>
            <a:r>
              <a:rPr lang="en-US" sz="1250" dirty="0">
                <a:solidFill>
                  <a:srgbClr val="00002E"/>
                </a:solidFill>
                <a:latin typeface="Nunito SemiBold" pitchFamily="34" charset="0"/>
                <a:ea typeface="Nunito SemiBold" pitchFamily="34" charset="-122"/>
                <a:cs typeface="Nunito SemiBold" pitchFamily="34" charset="-120"/>
              </a:rPr>
              <a:t>Productivity &amp; Deadlines</a:t>
            </a:r>
            <a:endParaRPr lang="en-US" sz="1250" dirty="0"/>
          </a:p>
        </p:txBody>
      </p:sp>
      <p:sp>
        <p:nvSpPr>
          <p:cNvPr id="18" name="Text 16"/>
          <p:cNvSpPr/>
          <p:nvPr/>
        </p:nvSpPr>
        <p:spPr>
          <a:xfrm>
            <a:off x="2889877" y="6206666"/>
            <a:ext cx="1782211" cy="866982"/>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00002E"/>
                </a:solidFill>
                <a:latin typeface="PT Sans" pitchFamily="34" charset="0"/>
                <a:ea typeface="PT Sans" pitchFamily="34" charset="-122"/>
                <a:cs typeface="PT Sans" pitchFamily="34" charset="-120"/>
              </a:rPr>
              <a:t>Improve productivity through deadline management, progress tracking, and a clean dashboard overview.</a:t>
            </a:r>
            <a:endParaRPr lang="en-US" sz="1050" dirty="0"/>
          </a:p>
        </p:txBody>
      </p:sp>
      <p:sp>
        <p:nvSpPr>
          <p:cNvPr id="19" name="Shape 17"/>
          <p:cNvSpPr/>
          <p:nvPr/>
        </p:nvSpPr>
        <p:spPr>
          <a:xfrm>
            <a:off x="4958682" y="5564244"/>
            <a:ext cx="2091452" cy="1664055"/>
          </a:xfrm>
          <a:prstGeom prst="roundRect">
            <a:avLst>
              <a:gd name="adj" fmla="val 12524"/>
            </a:avLst>
          </a:prstGeom>
          <a:solidFill>
            <a:srgbClr val="F3F3FF"/>
          </a:solidFill>
          <a:ln w="15754">
            <a:solidFill>
              <a:srgbClr val="DA33BF"/>
            </a:solidFill>
            <a:prstDash val="solid"/>
          </a:ln>
        </p:spPr>
      </p:sp>
      <p:sp>
        <p:nvSpPr>
          <p:cNvPr id="20" name="Text 18"/>
          <p:cNvSpPr/>
          <p:nvPr/>
        </p:nvSpPr>
        <p:spPr>
          <a:xfrm>
            <a:off x="5113333" y="5718896"/>
            <a:ext cx="1782149" cy="204314"/>
          </a:xfrm>
          <a:prstGeom prst="rect">
            <a:avLst/>
          </a:prstGeom>
          <a:noFill/>
          <a:ln/>
        </p:spPr>
        <p:txBody>
          <a:bodyPr wrap="none" lIns="0" tIns="0" rIns="0" bIns="0" rtlCol="0" anchor="t"/>
          <a:lstStyle/>
          <a:p>
            <a:pPr algn="l" indent="0" marL="0">
              <a:lnSpc>
                <a:spcPct val="104000"/>
              </a:lnSpc>
              <a:buNone/>
            </a:pPr>
            <a:r>
              <a:rPr lang="en-US" sz="1250" dirty="0">
                <a:solidFill>
                  <a:srgbClr val="00002E"/>
                </a:solidFill>
                <a:latin typeface="Nunito SemiBold" pitchFamily="34" charset="0"/>
                <a:ea typeface="Nunito SemiBold" pitchFamily="34" charset="-122"/>
                <a:cs typeface="Nunito SemiBold" pitchFamily="34" charset="-120"/>
              </a:rPr>
              <a:t>Responsive UI</a:t>
            </a:r>
            <a:endParaRPr lang="en-US" sz="1250" dirty="0"/>
          </a:p>
        </p:txBody>
      </p:sp>
      <p:sp>
        <p:nvSpPr>
          <p:cNvPr id="21" name="Text 19"/>
          <p:cNvSpPr/>
          <p:nvPr/>
        </p:nvSpPr>
        <p:spPr>
          <a:xfrm>
            <a:off x="5113333" y="6002351"/>
            <a:ext cx="1782149" cy="866982"/>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00002E"/>
                </a:solidFill>
                <a:latin typeface="PT Sans" pitchFamily="34" charset="0"/>
                <a:ea typeface="PT Sans" pitchFamily="34" charset="-122"/>
                <a:cs typeface="PT Sans" pitchFamily="34" charset="-120"/>
              </a:rPr>
              <a:t>Design a responsive and intuitive user interface with optional dark mode, accessible to all target users.</a:t>
            </a:r>
            <a:endParaRPr lang="en-US" sz="1050" dirty="0"/>
          </a:p>
        </p:txBody>
      </p:sp>
      <p:sp>
        <p:nvSpPr>
          <p:cNvPr id="22" name="Shape 20"/>
          <p:cNvSpPr/>
          <p:nvPr/>
        </p:nvSpPr>
        <p:spPr>
          <a:xfrm>
            <a:off x="511832" y="7360242"/>
            <a:ext cx="6538301" cy="809504"/>
          </a:xfrm>
          <a:prstGeom prst="roundRect">
            <a:avLst>
              <a:gd name="adj" fmla="val 25745"/>
            </a:avLst>
          </a:prstGeom>
          <a:solidFill>
            <a:srgbClr val="F3F3FF"/>
          </a:solidFill>
          <a:ln w="15754">
            <a:solidFill>
              <a:srgbClr val="2D4DF2"/>
            </a:solidFill>
            <a:prstDash val="solid"/>
          </a:ln>
        </p:spPr>
      </p:sp>
      <p:sp>
        <p:nvSpPr>
          <p:cNvPr id="23" name="Text 21"/>
          <p:cNvSpPr/>
          <p:nvPr/>
        </p:nvSpPr>
        <p:spPr>
          <a:xfrm>
            <a:off x="666483" y="7514893"/>
            <a:ext cx="6228999" cy="204314"/>
          </a:xfrm>
          <a:prstGeom prst="rect">
            <a:avLst/>
          </a:prstGeom>
          <a:noFill/>
          <a:ln/>
        </p:spPr>
        <p:txBody>
          <a:bodyPr wrap="none" lIns="0" tIns="0" rIns="0" bIns="0" rtlCol="0" anchor="t"/>
          <a:lstStyle/>
          <a:p>
            <a:pPr algn="l" indent="0" marL="0">
              <a:lnSpc>
                <a:spcPct val="104000"/>
              </a:lnSpc>
              <a:buNone/>
            </a:pPr>
            <a:r>
              <a:rPr lang="en-US" sz="1250" dirty="0">
                <a:solidFill>
                  <a:srgbClr val="00002E"/>
                </a:solidFill>
                <a:latin typeface="Nunito SemiBold" pitchFamily="34" charset="0"/>
                <a:ea typeface="Nunito SemiBold" pitchFamily="34" charset="-122"/>
                <a:cs typeface="Nunito SemiBold" pitchFamily="34" charset="-120"/>
              </a:rPr>
              <a:t>Practical Experience</a:t>
            </a:r>
            <a:endParaRPr lang="en-US" sz="1250" dirty="0"/>
          </a:p>
        </p:txBody>
      </p:sp>
      <p:sp>
        <p:nvSpPr>
          <p:cNvPr id="24" name="Text 22"/>
          <p:cNvSpPr/>
          <p:nvPr/>
        </p:nvSpPr>
        <p:spPr>
          <a:xfrm>
            <a:off x="666483" y="7798349"/>
            <a:ext cx="6228999" cy="216746"/>
          </a:xfrm>
          <a:prstGeom prst="rect">
            <a:avLst/>
          </a:prstGeom>
          <a:noFill/>
          <a:ln/>
        </p:spPr>
        <p:txBody>
          <a:bodyPr wrap="none" lIns="0" tIns="0" rIns="0" bIns="0" rtlCol="0" anchor="t"/>
          <a:lstStyle/>
          <a:p>
            <a:pPr algn="l" indent="0" marL="0">
              <a:lnSpc>
                <a:spcPct val="130000"/>
              </a:lnSpc>
              <a:buNone/>
            </a:pPr>
            <a:r>
              <a:rPr lang="en-US" sz="1050" dirty="0">
                <a:solidFill>
                  <a:srgbClr val="00002E"/>
                </a:solidFill>
                <a:latin typeface="PT Sans" pitchFamily="34" charset="0"/>
                <a:ea typeface="PT Sans" pitchFamily="34" charset="-122"/>
                <a:cs typeface="PT Sans" pitchFamily="34" charset="-120"/>
              </a:rPr>
              <a:t>Gain practical, hands-on experience in full-stack web development through a real-world project.</a:t>
            </a:r>
            <a:endParaRPr lang="en-US" sz="1050" dirty="0"/>
          </a:p>
        </p:txBody>
      </p:sp>
      <p:sp>
        <p:nvSpPr>
          <p:cNvPr id="25" name="Text 23"/>
          <p:cNvSpPr/>
          <p:nvPr/>
        </p:nvSpPr>
        <p:spPr>
          <a:xfrm>
            <a:off x="511832" y="8318181"/>
            <a:ext cx="6538363" cy="866982"/>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00002E"/>
                </a:solidFill>
                <a:latin typeface="PT Sans" pitchFamily="34" charset="0"/>
                <a:ea typeface="PT Sans" pitchFamily="34" charset="-122"/>
                <a:cs typeface="PT Sans" pitchFamily="34" charset="-120"/>
              </a:rPr>
              <a:t>The application is intended for students, working professionals, freelancers, small business owners, and individuals managing personal daily activities. Key features include user registration, login, and secure authentication; a centralized dashboard; task creation, editing, and deletion; task categories, due dates, and priorities; search and filter functionality; progress tracking; responsive design; and optional dark mode.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11832" y="402167"/>
            <a:ext cx="6538363" cy="365612"/>
          </a:xfrm>
          <a:prstGeom prst="rect">
            <a:avLst/>
          </a:prstGeom>
          <a:noFill/>
          <a:ln/>
        </p:spPr>
        <p:txBody>
          <a:bodyPr wrap="none" lIns="0" tIns="0" rIns="0" bIns="0" rtlCol="0" anchor="t"/>
          <a:lstStyle/>
          <a:p>
            <a:pPr algn="l" indent="0" marL="0">
              <a:lnSpc>
                <a:spcPct val="104000"/>
              </a:lnSpc>
              <a:buNone/>
            </a:pPr>
            <a:r>
              <a:rPr lang="en-US" sz="2300" dirty="0">
                <a:solidFill>
                  <a:srgbClr val="00002E"/>
                </a:solidFill>
                <a:latin typeface="Nunito SemiBold" pitchFamily="34" charset="0"/>
                <a:ea typeface="Nunito SemiBold" pitchFamily="34" charset="-122"/>
                <a:cs typeface="Nunito SemiBold" pitchFamily="34" charset="-120"/>
              </a:rPr>
              <a:t>Functional &amp; Non-Functional Requirements</a:t>
            </a:r>
            <a:endParaRPr lang="en-US" sz="2300" dirty="0"/>
          </a:p>
        </p:txBody>
      </p:sp>
      <p:sp>
        <p:nvSpPr>
          <p:cNvPr id="3" name="Shape 1"/>
          <p:cNvSpPr/>
          <p:nvPr/>
        </p:nvSpPr>
        <p:spPr>
          <a:xfrm>
            <a:off x="422352" y="926246"/>
            <a:ext cx="3296475" cy="5997551"/>
          </a:xfrm>
          <a:prstGeom prst="roundRect">
            <a:avLst>
              <a:gd name="adj" fmla="val 9051"/>
            </a:avLst>
          </a:prstGeom>
          <a:solidFill>
            <a:srgbClr val="2D4DF2">
              <a:alpha val="75000"/>
            </a:srgbClr>
          </a:solidFill>
          <a:ln/>
        </p:spPr>
      </p:sp>
      <p:sp>
        <p:nvSpPr>
          <p:cNvPr id="4" name="Text 2"/>
          <p:cNvSpPr/>
          <p:nvPr/>
        </p:nvSpPr>
        <p:spPr>
          <a:xfrm>
            <a:off x="546664" y="1031911"/>
            <a:ext cx="3047851" cy="182837"/>
          </a:xfrm>
          <a:prstGeom prst="rect">
            <a:avLst/>
          </a:prstGeom>
          <a:noFill/>
          <a:ln/>
        </p:spPr>
        <p:txBody>
          <a:bodyPr wrap="none" lIns="0" tIns="0" rIns="0" bIns="0" rtlCol="0" anchor="t"/>
          <a:lstStyle/>
          <a:p>
            <a:pPr algn="l" indent="0" marL="0">
              <a:lnSpc>
                <a:spcPct val="104000"/>
              </a:lnSpc>
              <a:buNone/>
            </a:pPr>
            <a:r>
              <a:rPr lang="en-US" sz="1150" dirty="0">
                <a:solidFill>
                  <a:srgbClr val="FFFFFF"/>
                </a:solidFill>
                <a:latin typeface="Nunito SemiBold" pitchFamily="34" charset="0"/>
                <a:ea typeface="Nunito SemiBold" pitchFamily="34" charset="-122"/>
                <a:cs typeface="Nunito SemiBold" pitchFamily="34" charset="-120"/>
              </a:rPr>
              <a:t>Functional Requirements</a:t>
            </a:r>
            <a:endParaRPr lang="en-US" sz="1150" dirty="0"/>
          </a:p>
        </p:txBody>
      </p:sp>
      <p:sp>
        <p:nvSpPr>
          <p:cNvPr id="5" name="Text 3"/>
          <p:cNvSpPr/>
          <p:nvPr/>
        </p:nvSpPr>
        <p:spPr>
          <a:xfrm>
            <a:off x="546664" y="1320413"/>
            <a:ext cx="3425956" cy="183945"/>
          </a:xfrm>
          <a:prstGeom prst="rect">
            <a:avLst/>
          </a:prstGeom>
          <a:noFill/>
          <a:ln/>
        </p:spPr>
        <p:txBody>
          <a:bodyPr wrap="none" lIns="0" tIns="0" rIns="0" bIns="0" rtlCol="0" anchor="t"/>
          <a:lstStyle/>
          <a:p>
            <a:pPr algn="l" indent="0" marL="0">
              <a:lnSpc>
                <a:spcPct val="123000"/>
              </a:lnSpc>
              <a:buNone/>
            </a:pPr>
            <a:r>
              <a:rPr lang="en-US" sz="950" b="1" dirty="0">
                <a:solidFill>
                  <a:srgbClr val="FFFFFF"/>
                </a:solidFill>
                <a:latin typeface="PT Sans Bold" pitchFamily="34" charset="0"/>
                <a:ea typeface="PT Sans Bold" pitchFamily="34" charset="-122"/>
                <a:cs typeface="PT Sans Bold" pitchFamily="34" charset="-120"/>
              </a:rPr>
              <a:t>User Management</a:t>
            </a:r>
            <a:endParaRPr lang="en-US" sz="950" dirty="0"/>
          </a:p>
        </p:txBody>
      </p:sp>
      <p:sp>
        <p:nvSpPr>
          <p:cNvPr id="6" name="Text 4"/>
          <p:cNvSpPr/>
          <p:nvPr/>
        </p:nvSpPr>
        <p:spPr>
          <a:xfrm>
            <a:off x="546664" y="1599437"/>
            <a:ext cx="3047851" cy="846551"/>
          </a:xfrm>
          <a:prstGeom prst="rect">
            <a:avLst/>
          </a:prstGeom>
          <a:noFill/>
          <a:ln/>
        </p:spPr>
        <p:txBody>
          <a:bodyPr wrap="square" lIns="0" tIns="0" rIns="0" bIns="0" rtlCol="0" anchor="t">
            <a:normAutofit/>
          </a:bodyPr>
          <a:lstStyle/>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User Registration &amp; Login</a:t>
            </a:r>
            <a:endParaRPr lang="en-US" sz="950" dirty="0"/>
          </a:p>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User Logout</a:t>
            </a:r>
            <a:endParaRPr lang="en-US" sz="950" dirty="0"/>
          </a:p>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Password Encryption</a:t>
            </a:r>
            <a:endParaRPr lang="en-US" sz="950" dirty="0"/>
          </a:p>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JWT Authentication</a:t>
            </a:r>
            <a:endParaRPr lang="en-US" sz="950" dirty="0"/>
          </a:p>
        </p:txBody>
      </p:sp>
      <p:sp>
        <p:nvSpPr>
          <p:cNvPr id="7" name="Text 5"/>
          <p:cNvSpPr/>
          <p:nvPr/>
        </p:nvSpPr>
        <p:spPr>
          <a:xfrm>
            <a:off x="546664" y="2541068"/>
            <a:ext cx="3425956" cy="183945"/>
          </a:xfrm>
          <a:prstGeom prst="rect">
            <a:avLst/>
          </a:prstGeom>
          <a:noFill/>
          <a:ln/>
        </p:spPr>
        <p:txBody>
          <a:bodyPr wrap="none" lIns="0" tIns="0" rIns="0" bIns="0" rtlCol="0" anchor="t"/>
          <a:lstStyle/>
          <a:p>
            <a:pPr algn="l" indent="0" marL="0">
              <a:lnSpc>
                <a:spcPct val="123000"/>
              </a:lnSpc>
              <a:buNone/>
            </a:pPr>
            <a:r>
              <a:rPr lang="en-US" sz="950" b="1" dirty="0">
                <a:solidFill>
                  <a:srgbClr val="FFFFFF"/>
                </a:solidFill>
                <a:latin typeface="PT Sans Bold" pitchFamily="34" charset="0"/>
                <a:ea typeface="PT Sans Bold" pitchFamily="34" charset="-122"/>
                <a:cs typeface="PT Sans Bold" pitchFamily="34" charset="-120"/>
              </a:rPr>
              <a:t>Task Management</a:t>
            </a:r>
            <a:endParaRPr lang="en-US" sz="950" dirty="0"/>
          </a:p>
        </p:txBody>
      </p:sp>
      <p:sp>
        <p:nvSpPr>
          <p:cNvPr id="8" name="Text 6"/>
          <p:cNvSpPr/>
          <p:nvPr/>
        </p:nvSpPr>
        <p:spPr>
          <a:xfrm>
            <a:off x="546664" y="2820093"/>
            <a:ext cx="3047851" cy="1067420"/>
          </a:xfrm>
          <a:prstGeom prst="rect">
            <a:avLst/>
          </a:prstGeom>
          <a:noFill/>
          <a:ln/>
        </p:spPr>
        <p:txBody>
          <a:bodyPr wrap="square" lIns="0" tIns="0" rIns="0" bIns="0" rtlCol="0" anchor="t">
            <a:normAutofit/>
          </a:bodyPr>
          <a:lstStyle/>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Create, Edit &amp; Delete Tasks</a:t>
            </a:r>
            <a:endParaRPr lang="en-US" sz="950" dirty="0"/>
          </a:p>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Mark Tasks as Completed</a:t>
            </a:r>
            <a:endParaRPr lang="en-US" sz="950" dirty="0"/>
          </a:p>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View, Search, Filter &amp; Sort Tasks</a:t>
            </a:r>
            <a:endParaRPr lang="en-US" sz="950" dirty="0"/>
          </a:p>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Assign Categories &amp; Priorities</a:t>
            </a:r>
            <a:endParaRPr lang="en-US" sz="950" dirty="0"/>
          </a:p>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Set Due Dates</a:t>
            </a:r>
            <a:endParaRPr lang="en-US" sz="950" dirty="0"/>
          </a:p>
        </p:txBody>
      </p:sp>
      <p:sp>
        <p:nvSpPr>
          <p:cNvPr id="9" name="Text 7"/>
          <p:cNvSpPr/>
          <p:nvPr/>
        </p:nvSpPr>
        <p:spPr>
          <a:xfrm>
            <a:off x="546664" y="3982592"/>
            <a:ext cx="3425956" cy="183945"/>
          </a:xfrm>
          <a:prstGeom prst="rect">
            <a:avLst/>
          </a:prstGeom>
          <a:noFill/>
          <a:ln/>
        </p:spPr>
        <p:txBody>
          <a:bodyPr wrap="none" lIns="0" tIns="0" rIns="0" bIns="0" rtlCol="0" anchor="t"/>
          <a:lstStyle/>
          <a:p>
            <a:pPr algn="l" indent="0" marL="0">
              <a:lnSpc>
                <a:spcPct val="123000"/>
              </a:lnSpc>
              <a:buNone/>
            </a:pPr>
            <a:r>
              <a:rPr lang="en-US" sz="950" b="1" dirty="0">
                <a:solidFill>
                  <a:srgbClr val="FFFFFF"/>
                </a:solidFill>
                <a:latin typeface="PT Sans Bold" pitchFamily="34" charset="0"/>
                <a:ea typeface="PT Sans Bold" pitchFamily="34" charset="-122"/>
                <a:cs typeface="PT Sans Bold" pitchFamily="34" charset="-120"/>
              </a:rPr>
              <a:t>Dashboard</a:t>
            </a:r>
            <a:endParaRPr lang="en-US" sz="950" dirty="0"/>
          </a:p>
        </p:txBody>
      </p:sp>
      <p:sp>
        <p:nvSpPr>
          <p:cNvPr id="10" name="Text 8"/>
          <p:cNvSpPr/>
          <p:nvPr/>
        </p:nvSpPr>
        <p:spPr>
          <a:xfrm>
            <a:off x="546664" y="4261617"/>
            <a:ext cx="3047851" cy="846551"/>
          </a:xfrm>
          <a:prstGeom prst="rect">
            <a:avLst/>
          </a:prstGeom>
          <a:noFill/>
          <a:ln/>
        </p:spPr>
        <p:txBody>
          <a:bodyPr wrap="square" lIns="0" tIns="0" rIns="0" bIns="0" rtlCol="0" anchor="t">
            <a:normAutofit/>
          </a:bodyPr>
          <a:lstStyle/>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Total &amp; Completed Tasks</a:t>
            </a:r>
            <a:endParaRPr lang="en-US" sz="950" dirty="0"/>
          </a:p>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Pending Tasks</a:t>
            </a:r>
            <a:endParaRPr lang="en-US" sz="950" dirty="0"/>
          </a:p>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Upcoming Deadlines</a:t>
            </a:r>
            <a:endParaRPr lang="en-US" sz="950" dirty="0"/>
          </a:p>
          <a:p>
            <a:pPr algn="l" marL="193040" indent="-193040">
              <a:lnSpc>
                <a:spcPct val="123000"/>
              </a:lnSpc>
              <a:buSzPct val="100000"/>
              <a:buChar char="•"/>
            </a:pPr>
            <a:r>
              <a:rPr lang="en-US" sz="950" dirty="0">
                <a:solidFill>
                  <a:srgbClr val="FFFFFF"/>
                </a:solidFill>
                <a:latin typeface="PT Sans" pitchFamily="34" charset="0"/>
                <a:ea typeface="PT Sans" pitchFamily="34" charset="-122"/>
                <a:cs typeface="PT Sans" pitchFamily="34" charset="-120"/>
              </a:rPr>
              <a:t>Progress Statistics</a:t>
            </a:r>
            <a:endParaRPr lang="en-US" sz="950" dirty="0"/>
          </a:p>
        </p:txBody>
      </p:sp>
      <p:sp>
        <p:nvSpPr>
          <p:cNvPr id="11" name="Text 9"/>
          <p:cNvSpPr/>
          <p:nvPr/>
        </p:nvSpPr>
        <p:spPr>
          <a:xfrm>
            <a:off x="3936557" y="1031911"/>
            <a:ext cx="3117515" cy="182837"/>
          </a:xfrm>
          <a:prstGeom prst="rect">
            <a:avLst/>
          </a:prstGeom>
          <a:noFill/>
          <a:ln/>
        </p:spPr>
        <p:txBody>
          <a:bodyPr wrap="none" lIns="0" tIns="0" rIns="0" bIns="0" rtlCol="0" anchor="t"/>
          <a:lstStyle/>
          <a:p>
            <a:pPr algn="l" indent="0" marL="0">
              <a:lnSpc>
                <a:spcPct val="104000"/>
              </a:lnSpc>
              <a:buNone/>
            </a:pPr>
            <a:r>
              <a:rPr lang="en-US" sz="1150" dirty="0">
                <a:solidFill>
                  <a:srgbClr val="00002E"/>
                </a:solidFill>
                <a:latin typeface="Nunito SemiBold" pitchFamily="34" charset="0"/>
                <a:ea typeface="Nunito SemiBold" pitchFamily="34" charset="-122"/>
                <a:cs typeface="Nunito SemiBold" pitchFamily="34" charset="-120"/>
              </a:rPr>
              <a:t>Non-Functional Requirements</a:t>
            </a:r>
            <a:endParaRPr lang="en-US" sz="1150" dirty="0"/>
          </a:p>
        </p:txBody>
      </p:sp>
      <p:sp>
        <p:nvSpPr>
          <p:cNvPr id="12" name="Text 10"/>
          <p:cNvSpPr/>
          <p:nvPr/>
        </p:nvSpPr>
        <p:spPr>
          <a:xfrm>
            <a:off x="3936557" y="1320413"/>
            <a:ext cx="3495619" cy="183945"/>
          </a:xfrm>
          <a:prstGeom prst="rect">
            <a:avLst/>
          </a:prstGeom>
          <a:noFill/>
          <a:ln/>
        </p:spPr>
        <p:txBody>
          <a:bodyPr wrap="none" lIns="0" tIns="0" rIns="0" bIns="0" rtlCol="0" anchor="t"/>
          <a:lstStyle/>
          <a:p>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Performance</a:t>
            </a:r>
            <a:endParaRPr lang="en-US" sz="950" dirty="0"/>
          </a:p>
        </p:txBody>
      </p:sp>
      <p:sp>
        <p:nvSpPr>
          <p:cNvPr id="13" name="Text 11"/>
          <p:cNvSpPr/>
          <p:nvPr/>
        </p:nvSpPr>
        <p:spPr>
          <a:xfrm>
            <a:off x="3936557" y="1599437"/>
            <a:ext cx="3117515" cy="625682"/>
          </a:xfrm>
          <a:prstGeom prst="rect">
            <a:avLst/>
          </a:prstGeom>
          <a:noFill/>
          <a:ln/>
        </p:spPr>
        <p:txBody>
          <a:bodyPr wrap="square" lIns="0" tIns="0" rIns="0" bIns="0" rtlCol="0" anchor="t">
            <a:normAutofit/>
          </a:bodyPr>
          <a:lstStyle/>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Fast page loading</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Efficient API responses</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Optimized database queries</a:t>
            </a:r>
            <a:endParaRPr lang="en-US" sz="950" dirty="0"/>
          </a:p>
        </p:txBody>
      </p:sp>
      <p:sp>
        <p:nvSpPr>
          <p:cNvPr id="14" name="Text 12"/>
          <p:cNvSpPr/>
          <p:nvPr/>
        </p:nvSpPr>
        <p:spPr>
          <a:xfrm>
            <a:off x="3936557" y="2320199"/>
            <a:ext cx="3495619" cy="183945"/>
          </a:xfrm>
          <a:prstGeom prst="rect">
            <a:avLst/>
          </a:prstGeom>
          <a:noFill/>
          <a:ln/>
        </p:spPr>
        <p:txBody>
          <a:bodyPr wrap="none" lIns="0" tIns="0" rIns="0" bIns="0" rtlCol="0" anchor="t"/>
          <a:lstStyle/>
          <a:p>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Security</a:t>
            </a:r>
            <a:endParaRPr lang="en-US" sz="950" dirty="0"/>
          </a:p>
        </p:txBody>
      </p:sp>
      <p:sp>
        <p:nvSpPr>
          <p:cNvPr id="15" name="Text 13"/>
          <p:cNvSpPr/>
          <p:nvPr/>
        </p:nvSpPr>
        <p:spPr>
          <a:xfrm>
            <a:off x="3936557" y="2599224"/>
            <a:ext cx="3117515" cy="1067420"/>
          </a:xfrm>
          <a:prstGeom prst="rect">
            <a:avLst/>
          </a:prstGeom>
          <a:noFill/>
          <a:ln/>
        </p:spPr>
        <p:txBody>
          <a:bodyPr wrap="square" lIns="0" tIns="0" rIns="0" bIns="0" rtlCol="0" anchor="t">
            <a:normAutofit/>
          </a:bodyPr>
          <a:lstStyle/>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JWT Authentication</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Password hashing using bcrypt</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Protected API routes</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Input validation</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Secure data transmission</a:t>
            </a:r>
            <a:endParaRPr lang="en-US" sz="950" dirty="0"/>
          </a:p>
        </p:txBody>
      </p:sp>
      <p:sp>
        <p:nvSpPr>
          <p:cNvPr id="16" name="Text 14"/>
          <p:cNvSpPr/>
          <p:nvPr/>
        </p:nvSpPr>
        <p:spPr>
          <a:xfrm>
            <a:off x="3936557" y="3761724"/>
            <a:ext cx="3495619" cy="183945"/>
          </a:xfrm>
          <a:prstGeom prst="rect">
            <a:avLst/>
          </a:prstGeom>
          <a:noFill/>
          <a:ln/>
        </p:spPr>
        <p:txBody>
          <a:bodyPr wrap="none" lIns="0" tIns="0" rIns="0" bIns="0" rtlCol="0" anchor="t"/>
          <a:lstStyle/>
          <a:p>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Reliability</a:t>
            </a:r>
            <a:endParaRPr lang="en-US" sz="950" dirty="0"/>
          </a:p>
        </p:txBody>
      </p:sp>
      <p:sp>
        <p:nvSpPr>
          <p:cNvPr id="17" name="Text 15"/>
          <p:cNvSpPr/>
          <p:nvPr/>
        </p:nvSpPr>
        <p:spPr>
          <a:xfrm>
            <a:off x="3936557" y="4040748"/>
            <a:ext cx="3117515" cy="625682"/>
          </a:xfrm>
          <a:prstGeom prst="rect">
            <a:avLst/>
          </a:prstGeom>
          <a:noFill/>
          <a:ln/>
        </p:spPr>
        <p:txBody>
          <a:bodyPr wrap="square" lIns="0" tIns="0" rIns="0" bIns="0" rtlCol="0" anchor="t">
            <a:normAutofit/>
          </a:bodyPr>
          <a:lstStyle/>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Proper error handling</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Consistent API responses</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Stable database operations</a:t>
            </a:r>
            <a:endParaRPr lang="en-US" sz="950" dirty="0"/>
          </a:p>
        </p:txBody>
      </p:sp>
      <p:sp>
        <p:nvSpPr>
          <p:cNvPr id="18" name="Text 16"/>
          <p:cNvSpPr/>
          <p:nvPr/>
        </p:nvSpPr>
        <p:spPr>
          <a:xfrm>
            <a:off x="3936557" y="4761510"/>
            <a:ext cx="3495619" cy="183945"/>
          </a:xfrm>
          <a:prstGeom prst="rect">
            <a:avLst/>
          </a:prstGeom>
          <a:noFill/>
          <a:ln/>
        </p:spPr>
        <p:txBody>
          <a:bodyPr wrap="none" lIns="0" tIns="0" rIns="0" bIns="0" rtlCol="0" anchor="t"/>
          <a:lstStyle/>
          <a:p>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Usability</a:t>
            </a:r>
            <a:endParaRPr lang="en-US" sz="950" dirty="0"/>
          </a:p>
        </p:txBody>
      </p:sp>
      <p:sp>
        <p:nvSpPr>
          <p:cNvPr id="19" name="Text 17"/>
          <p:cNvSpPr/>
          <p:nvPr/>
        </p:nvSpPr>
        <p:spPr>
          <a:xfrm>
            <a:off x="3936557" y="5040535"/>
            <a:ext cx="3117515" cy="846551"/>
          </a:xfrm>
          <a:prstGeom prst="rect">
            <a:avLst/>
          </a:prstGeom>
          <a:noFill/>
          <a:ln/>
        </p:spPr>
        <p:txBody>
          <a:bodyPr wrap="square" lIns="0" tIns="0" rIns="0" bIns="0" rtlCol="0" anchor="t">
            <a:normAutofit/>
          </a:bodyPr>
          <a:lstStyle/>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Easy navigation</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Responsive interface</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Clean dashboard</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Accessible design</a:t>
            </a:r>
            <a:endParaRPr lang="en-US" sz="950" dirty="0"/>
          </a:p>
        </p:txBody>
      </p:sp>
      <p:sp>
        <p:nvSpPr>
          <p:cNvPr id="20" name="Text 18"/>
          <p:cNvSpPr/>
          <p:nvPr/>
        </p:nvSpPr>
        <p:spPr>
          <a:xfrm>
            <a:off x="3936557" y="5982166"/>
            <a:ext cx="3495619" cy="183945"/>
          </a:xfrm>
          <a:prstGeom prst="rect">
            <a:avLst/>
          </a:prstGeom>
          <a:noFill/>
          <a:ln/>
        </p:spPr>
        <p:txBody>
          <a:bodyPr wrap="none" lIns="0" tIns="0" rIns="0" bIns="0" rtlCol="0" anchor="t"/>
          <a:lstStyle/>
          <a:p>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Scalability</a:t>
            </a:r>
            <a:endParaRPr lang="en-US" sz="950" dirty="0"/>
          </a:p>
        </p:txBody>
      </p:sp>
      <p:sp>
        <p:nvSpPr>
          <p:cNvPr id="21" name="Text 19"/>
          <p:cNvSpPr/>
          <p:nvPr/>
        </p:nvSpPr>
        <p:spPr>
          <a:xfrm>
            <a:off x="3936557" y="6261190"/>
            <a:ext cx="3117515" cy="625682"/>
          </a:xfrm>
          <a:prstGeom prst="rect">
            <a:avLst/>
          </a:prstGeom>
          <a:noFill/>
          <a:ln/>
        </p:spPr>
        <p:txBody>
          <a:bodyPr wrap="square" lIns="0" tIns="0" rIns="0" bIns="0" rtlCol="0" anchor="t">
            <a:normAutofit/>
          </a:bodyPr>
          <a:lstStyle/>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Modular architecture</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RESTful APIs</a:t>
            </a:r>
            <a:endParaRPr lang="en-US" sz="950" dirty="0"/>
          </a:p>
          <a:p>
            <a:pPr algn="l" marL="193040" indent="-193040">
              <a:lnSpc>
                <a:spcPct val="123000"/>
              </a:lnSpc>
              <a:buSzPct val="100000"/>
              <a:buChar char="•"/>
            </a:pPr>
            <a:r>
              <a:rPr lang="en-US" sz="950" dirty="0">
                <a:solidFill>
                  <a:srgbClr val="00002E"/>
                </a:solidFill>
                <a:latin typeface="PT Sans" pitchFamily="34" charset="0"/>
                <a:ea typeface="PT Sans" pitchFamily="34" charset="-122"/>
                <a:cs typeface="PT Sans" pitchFamily="34" charset="-120"/>
              </a:rPr>
              <a:t>Easy feature expansion</a:t>
            </a:r>
            <a:endParaRPr lang="en-US" sz="950" dirty="0"/>
          </a:p>
        </p:txBody>
      </p:sp>
      <p:sp>
        <p:nvSpPr>
          <p:cNvPr id="22" name="Text 20"/>
          <p:cNvSpPr/>
          <p:nvPr/>
        </p:nvSpPr>
        <p:spPr>
          <a:xfrm>
            <a:off x="511832" y="7042632"/>
            <a:ext cx="6538363" cy="2326169"/>
          </a:xfrm>
          <a:prstGeom prst="rect">
            <a:avLst/>
          </a:prstGeom>
          <a:noFill/>
          <a:ln/>
        </p:spPr>
        <p:txBody>
          <a:bodyPr wrap="square" lIns="0" tIns="0" rIns="0" bIns="0" rtlCol="0" anchor="t">
            <a:normAutofit/>
          </a:bodyPr>
          <a:lstStyle/>
          <a:p>
            <a:pPr algn="l" indent="0" marL="0">
              <a:lnSpc>
                <a:spcPct val="123000"/>
              </a:lnSpc>
              <a:spcAft>
                <a:spcPts val="900"/>
              </a:spcAft>
              <a:buNone/>
            </a:pPr>
            <a:r>
              <a:rPr lang="en-US" sz="950" dirty="0">
                <a:solidFill>
                  <a:srgbClr val="00002E"/>
                </a:solidFill>
                <a:latin typeface="PT Sans" pitchFamily="34" charset="0"/>
                <a:ea typeface="PT Sans" pitchFamily="34" charset="-122"/>
                <a:cs typeface="PT Sans" pitchFamily="34" charset="-120"/>
              </a:rPr>
              <a:t>The Smart Task Manager should provide comprehensive functionality across user management, task management, and a centralized dashboard. On the user management side, the application supports user registration, login, logout, password encryption, and JWT authentication to ensure secure access. For task management, users should be able to create a new task, edit an existing task, delete tasks, mark tasks as completed, view all tasks, search tasks, filter tasks, sort tasks, assign categories, set priorities, and set due dates. The dashboard should display total tasks, completed tasks, pending tasks, upcoming deadlines, and progress statistics to give users a clear overview of their workload and productivity.</a:t>
            </a:r>
            <a:endParaRPr lang="en-US" sz="950" dirty="0"/>
          </a:p>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Non-functional requirements are equally critical to the application's success. Performance requirements include fast page loading, efficient API responses, and optimized database queries. Security is addressed through JWT authentication, password hashing using bcrypt, protected API routes, input validation, and secure data transmission. Reliability is ensured through proper error handling, consistent API responses, and stable database operations. Usability focuses on easy navigation, a responsive interface, a clean dashboard, and accessible design. Finally, scalability is achieved through a modular architecture, RESTful APIs, and an architecture designed for easy feature expansion.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11832" y="402167"/>
            <a:ext cx="6538363" cy="430168"/>
          </a:xfrm>
          <a:prstGeom prst="rect">
            <a:avLst/>
          </a:prstGeom>
          <a:noFill/>
          <a:ln/>
        </p:spPr>
        <p:txBody>
          <a:bodyPr wrap="none" lIns="0" tIns="0" rIns="0" bIns="0" rtlCol="0" anchor="t"/>
          <a:lstStyle/>
          <a:p>
            <a:pPr algn="l" indent="0" marL="0">
              <a:lnSpc>
                <a:spcPct val="104000"/>
              </a:lnSpc>
              <a:buNone/>
            </a:pPr>
            <a:r>
              <a:rPr lang="en-US" sz="2700" dirty="0">
                <a:solidFill>
                  <a:srgbClr val="00002E"/>
                </a:solidFill>
                <a:latin typeface="Nunito SemiBold" pitchFamily="34" charset="0"/>
                <a:ea typeface="Nunito SemiBold" pitchFamily="34" charset="-122"/>
                <a:cs typeface="Nunito SemiBold" pitchFamily="34" charset="-120"/>
              </a:rPr>
              <a:t>User Flowcharts</a:t>
            </a:r>
            <a:endParaRPr lang="en-US" sz="2700" dirty="0"/>
          </a:p>
        </p:txBody>
      </p:sp>
      <p:sp>
        <p:nvSpPr>
          <p:cNvPr id="3" name="Text 1"/>
          <p:cNvSpPr/>
          <p:nvPr/>
        </p:nvSpPr>
        <p:spPr>
          <a:xfrm>
            <a:off x="511832" y="1124837"/>
            <a:ext cx="6538363" cy="93615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2E"/>
                </a:solidFill>
                <a:latin typeface="PT Sans" pitchFamily="34" charset="0"/>
                <a:ea typeface="PT Sans" pitchFamily="34" charset="-122"/>
                <a:cs typeface="PT Sans" pitchFamily="34" charset="-120"/>
              </a:rPr>
              <a:t>The user flowcharts below illustrate the three primary interaction paths within the Smart Task Manager: the overall user flow from landing page to logout, the task creation flow, and the login authentication flow. Each flow is designed to be intuitive and straightforward, minimizing the number of steps required for users to accomplish their goals while ensuring proper validation and error handling at each stage.</a:t>
            </a:r>
            <a:endParaRPr lang="en-US" sz="1150" dirty="0"/>
          </a:p>
        </p:txBody>
      </p:sp>
      <p:pic>
        <p:nvPicPr>
          <p:cNvPr id="4" name="Image 0" descr="preencoded.png">    </p:cNvPr>
          <p:cNvPicPr>
            <a:picLocks noChangeAspect="1"/>
          </p:cNvPicPr>
          <p:nvPr/>
        </p:nvPicPr>
        <p:blipFill>
          <a:blip r:embed="rId1"/>
          <a:stretch>
            <a:fillRect/>
          </a:stretch>
        </p:blipFill>
        <p:spPr>
          <a:xfrm>
            <a:off x="511832" y="2225489"/>
            <a:ext cx="6538363" cy="2868094"/>
          </a:xfrm>
          <a:prstGeom prst="rect">
            <a:avLst/>
          </a:prstGeom>
        </p:spPr>
      </p:pic>
      <p:sp>
        <p:nvSpPr>
          <p:cNvPr id="5" name="Text 2"/>
          <p:cNvSpPr/>
          <p:nvPr/>
        </p:nvSpPr>
        <p:spPr>
          <a:xfrm>
            <a:off x="2493316" y="4336281"/>
            <a:ext cx="988189" cy="166418"/>
          </a:xfrm>
          <a:prstGeom prst="rect">
            <a:avLst/>
          </a:prstGeom>
          <a:noFill/>
          <a:ln/>
        </p:spPr>
        <p:txBody>
          <a:bodyPr wrap="none" lIns="0" tIns="0" rIns="0" bIns="0" rtlCol="0" anchor="t"/>
          <a:lstStyle/>
          <a:p>
            <a:pPr algn="ctr" indent="0" marL="0">
              <a:lnSpc>
                <a:spcPct val="104000"/>
              </a:lnSpc>
              <a:buNone/>
            </a:pPr>
            <a:r>
              <a:rPr lang="en-US" sz="1000" dirty="0">
                <a:solidFill>
                  <a:srgbClr val="00002E"/>
                </a:solidFill>
                <a:latin typeface="Nunito SemiBold" pitchFamily="34" charset="0"/>
                <a:ea typeface="Nunito SemiBold" pitchFamily="34" charset="-122"/>
                <a:cs typeface="Nunito SemiBold" pitchFamily="34" charset="-120"/>
              </a:rPr>
              <a:t>Auth</a:t>
            </a:r>
            <a:endParaRPr lang="en-US" sz="1000" dirty="0"/>
          </a:p>
        </p:txBody>
      </p:sp>
      <p:sp>
        <p:nvSpPr>
          <p:cNvPr id="6" name="Text 3"/>
          <p:cNvSpPr/>
          <p:nvPr/>
        </p:nvSpPr>
        <p:spPr>
          <a:xfrm>
            <a:off x="2493316" y="4553029"/>
            <a:ext cx="988189" cy="283099"/>
          </a:xfrm>
          <a:prstGeom prst="rect">
            <a:avLst/>
          </a:prstGeom>
          <a:noFill/>
          <a:ln/>
        </p:spPr>
        <p:txBody>
          <a:bodyPr wrap="square" lIns="0" tIns="0" rIns="0" bIns="0" rtlCol="0" anchor="t">
            <a:normAutofit/>
          </a:bodyPr>
          <a:lstStyle/>
          <a:p>
            <a:pPr algn="ctr" indent="0" marL="0">
              <a:lnSpc>
                <a:spcPct val="104000"/>
              </a:lnSpc>
              <a:buNone/>
            </a:pPr>
            <a:r>
              <a:rPr lang="en-US" sz="850" dirty="0">
                <a:solidFill>
                  <a:srgbClr val="00002E"/>
                </a:solidFill>
                <a:latin typeface="PT Sans" pitchFamily="34" charset="0"/>
                <a:ea typeface="PT Sans" pitchFamily="34" charset="-122"/>
                <a:cs typeface="PT Sans" pitchFamily="34" charset="-120"/>
              </a:rPr>
              <a:t>Login or register securely</a:t>
            </a:r>
            <a:endParaRPr lang="en-US" sz="850" dirty="0"/>
          </a:p>
        </p:txBody>
      </p:sp>
      <p:sp>
        <p:nvSpPr>
          <p:cNvPr id="7" name="Text 4"/>
          <p:cNvSpPr/>
          <p:nvPr/>
        </p:nvSpPr>
        <p:spPr>
          <a:xfrm>
            <a:off x="5632559" y="4336281"/>
            <a:ext cx="988189" cy="166418"/>
          </a:xfrm>
          <a:prstGeom prst="rect">
            <a:avLst/>
          </a:prstGeom>
          <a:noFill/>
          <a:ln/>
        </p:spPr>
        <p:txBody>
          <a:bodyPr wrap="none" lIns="0" tIns="0" rIns="0" bIns="0" rtlCol="0" anchor="t"/>
          <a:lstStyle/>
          <a:p>
            <a:pPr algn="ctr" indent="0" marL="0">
              <a:lnSpc>
                <a:spcPct val="104000"/>
              </a:lnSpc>
              <a:buNone/>
            </a:pPr>
            <a:r>
              <a:rPr lang="en-US" sz="1000" dirty="0">
                <a:solidFill>
                  <a:srgbClr val="00002E"/>
                </a:solidFill>
                <a:latin typeface="Nunito SemiBold" pitchFamily="34" charset="0"/>
                <a:ea typeface="Nunito SemiBold" pitchFamily="34" charset="-122"/>
                <a:cs typeface="Nunito SemiBold" pitchFamily="34" charset="-120"/>
              </a:rPr>
              <a:t>Logout</a:t>
            </a:r>
            <a:endParaRPr lang="en-US" sz="1000" dirty="0"/>
          </a:p>
        </p:txBody>
      </p:sp>
      <p:sp>
        <p:nvSpPr>
          <p:cNvPr id="8" name="Text 5"/>
          <p:cNvSpPr/>
          <p:nvPr/>
        </p:nvSpPr>
        <p:spPr>
          <a:xfrm>
            <a:off x="5632559" y="4553029"/>
            <a:ext cx="988189" cy="283099"/>
          </a:xfrm>
          <a:prstGeom prst="rect">
            <a:avLst/>
          </a:prstGeom>
          <a:noFill/>
          <a:ln/>
        </p:spPr>
        <p:txBody>
          <a:bodyPr wrap="square" lIns="0" tIns="0" rIns="0" bIns="0" rtlCol="0" anchor="t">
            <a:normAutofit/>
          </a:bodyPr>
          <a:lstStyle/>
          <a:p>
            <a:pPr algn="ctr" indent="0" marL="0">
              <a:lnSpc>
                <a:spcPct val="104000"/>
              </a:lnSpc>
              <a:buNone/>
            </a:pPr>
            <a:r>
              <a:rPr lang="en-US" sz="850" dirty="0">
                <a:solidFill>
                  <a:srgbClr val="00002E"/>
                </a:solidFill>
                <a:latin typeface="PT Sans" pitchFamily="34" charset="0"/>
                <a:ea typeface="PT Sans" pitchFamily="34" charset="-122"/>
                <a:cs typeface="PT Sans" pitchFamily="34" charset="-120"/>
              </a:rPr>
              <a:t>End session and exit</a:t>
            </a:r>
            <a:endParaRPr lang="en-US" sz="850" dirty="0"/>
          </a:p>
        </p:txBody>
      </p:sp>
      <p:sp>
        <p:nvSpPr>
          <p:cNvPr id="9" name="Text 6"/>
          <p:cNvSpPr/>
          <p:nvPr/>
        </p:nvSpPr>
        <p:spPr>
          <a:xfrm>
            <a:off x="958295" y="2483265"/>
            <a:ext cx="988189" cy="166419"/>
          </a:xfrm>
          <a:prstGeom prst="rect">
            <a:avLst/>
          </a:prstGeom>
          <a:noFill/>
          <a:ln/>
        </p:spPr>
        <p:txBody>
          <a:bodyPr wrap="none" lIns="0" tIns="0" rIns="0" bIns="0" rtlCol="0" anchor="t"/>
          <a:lstStyle/>
          <a:p>
            <a:pPr algn="ctr" indent="0" marL="0">
              <a:lnSpc>
                <a:spcPct val="104000"/>
              </a:lnSpc>
              <a:buNone/>
            </a:pPr>
            <a:r>
              <a:rPr lang="en-US" sz="1000" dirty="0">
                <a:solidFill>
                  <a:srgbClr val="00002E"/>
                </a:solidFill>
                <a:latin typeface="Nunito SemiBold" pitchFamily="34" charset="0"/>
                <a:ea typeface="Nunito SemiBold" pitchFamily="34" charset="-122"/>
                <a:cs typeface="Nunito SemiBold" pitchFamily="34" charset="-120"/>
              </a:rPr>
              <a:t>Landing</a:t>
            </a:r>
            <a:endParaRPr lang="en-US" sz="1000" dirty="0"/>
          </a:p>
        </p:txBody>
      </p:sp>
      <p:sp>
        <p:nvSpPr>
          <p:cNvPr id="10" name="Text 7"/>
          <p:cNvSpPr/>
          <p:nvPr/>
        </p:nvSpPr>
        <p:spPr>
          <a:xfrm>
            <a:off x="958295" y="2700012"/>
            <a:ext cx="988189" cy="283098"/>
          </a:xfrm>
          <a:prstGeom prst="rect">
            <a:avLst/>
          </a:prstGeom>
          <a:noFill/>
          <a:ln/>
        </p:spPr>
        <p:txBody>
          <a:bodyPr wrap="square" lIns="0" tIns="0" rIns="0" bIns="0" rtlCol="0" anchor="t">
            <a:normAutofit/>
          </a:bodyPr>
          <a:lstStyle/>
          <a:p>
            <a:pPr algn="ctr" indent="0" marL="0">
              <a:lnSpc>
                <a:spcPct val="104000"/>
              </a:lnSpc>
              <a:buNone/>
            </a:pPr>
            <a:r>
              <a:rPr lang="en-US" sz="850" dirty="0">
                <a:solidFill>
                  <a:srgbClr val="00002E"/>
                </a:solidFill>
                <a:latin typeface="PT Sans" pitchFamily="34" charset="0"/>
                <a:ea typeface="PT Sans" pitchFamily="34" charset="-122"/>
                <a:cs typeface="PT Sans" pitchFamily="34" charset="-120"/>
              </a:rPr>
              <a:t>Explore features and CTA</a:t>
            </a:r>
            <a:endParaRPr lang="en-US" sz="850" dirty="0"/>
          </a:p>
        </p:txBody>
      </p:sp>
      <p:sp>
        <p:nvSpPr>
          <p:cNvPr id="11" name="Text 8"/>
          <p:cNvSpPr/>
          <p:nvPr/>
        </p:nvSpPr>
        <p:spPr>
          <a:xfrm>
            <a:off x="4084956" y="2483265"/>
            <a:ext cx="988189" cy="166419"/>
          </a:xfrm>
          <a:prstGeom prst="rect">
            <a:avLst/>
          </a:prstGeom>
          <a:noFill/>
          <a:ln/>
        </p:spPr>
        <p:txBody>
          <a:bodyPr wrap="none" lIns="0" tIns="0" rIns="0" bIns="0" rtlCol="0" anchor="t"/>
          <a:lstStyle/>
          <a:p>
            <a:pPr algn="ctr" indent="0" marL="0">
              <a:lnSpc>
                <a:spcPct val="104000"/>
              </a:lnSpc>
              <a:buNone/>
            </a:pPr>
            <a:r>
              <a:rPr lang="en-US" sz="1000" dirty="0">
                <a:solidFill>
                  <a:srgbClr val="00002E"/>
                </a:solidFill>
                <a:latin typeface="Nunito SemiBold" pitchFamily="34" charset="0"/>
                <a:ea typeface="Nunito SemiBold" pitchFamily="34" charset="-122"/>
                <a:cs typeface="Nunito SemiBold" pitchFamily="34" charset="-120"/>
              </a:rPr>
              <a:t>Dashboard</a:t>
            </a:r>
            <a:endParaRPr lang="en-US" sz="1000" dirty="0"/>
          </a:p>
        </p:txBody>
      </p:sp>
      <p:sp>
        <p:nvSpPr>
          <p:cNvPr id="12" name="Text 9"/>
          <p:cNvSpPr/>
          <p:nvPr/>
        </p:nvSpPr>
        <p:spPr>
          <a:xfrm>
            <a:off x="4084956" y="2700012"/>
            <a:ext cx="988189" cy="283098"/>
          </a:xfrm>
          <a:prstGeom prst="rect">
            <a:avLst/>
          </a:prstGeom>
          <a:noFill/>
          <a:ln/>
        </p:spPr>
        <p:txBody>
          <a:bodyPr wrap="square" lIns="0" tIns="0" rIns="0" bIns="0" rtlCol="0" anchor="t">
            <a:normAutofit/>
          </a:bodyPr>
          <a:lstStyle/>
          <a:p>
            <a:pPr algn="ctr" indent="0" marL="0">
              <a:lnSpc>
                <a:spcPct val="104000"/>
              </a:lnSpc>
              <a:buNone/>
            </a:pPr>
            <a:r>
              <a:rPr lang="en-US" sz="850" dirty="0">
                <a:solidFill>
                  <a:srgbClr val="00002E"/>
                </a:solidFill>
                <a:latin typeface="PT Sans" pitchFamily="34" charset="0"/>
                <a:ea typeface="PT Sans" pitchFamily="34" charset="-122"/>
                <a:cs typeface="PT Sans" pitchFamily="34" charset="-120"/>
              </a:rPr>
              <a:t>Create and view tasks</a:t>
            </a:r>
            <a:endParaRPr lang="en-US" sz="850" dirty="0"/>
          </a:p>
        </p:txBody>
      </p:sp>
      <p:sp>
        <p:nvSpPr>
          <p:cNvPr id="13" name="Text 10"/>
          <p:cNvSpPr/>
          <p:nvPr/>
        </p:nvSpPr>
        <p:spPr>
          <a:xfrm>
            <a:off x="511832" y="5258081"/>
            <a:ext cx="6538363" cy="1170192"/>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2E"/>
                </a:solidFill>
                <a:latin typeface="PT Sans" pitchFamily="34" charset="0"/>
                <a:ea typeface="PT Sans" pitchFamily="34" charset="-122"/>
                <a:cs typeface="PT Sans" pitchFamily="34" charset="-120"/>
              </a:rPr>
              <a:t>The overall user flow begins at the landing page, where users can choose to log in or register. After authentication, users are directed to the dashboard, where they can either create new tasks or view and manage existing tasks. Creating a task involves entering task details, validation, saving to the database, and updating the dashboard. Viewing tasks allows users to edit or delete existing tasks, which also updates the dashboard. Users can log out at any time to end their session securely.</a:t>
            </a:r>
            <a:endParaRPr lang="en-US" sz="1150" dirty="0"/>
          </a:p>
        </p:txBody>
      </p:sp>
      <p:sp>
        <p:nvSpPr>
          <p:cNvPr id="14" name="Text 11"/>
          <p:cNvSpPr/>
          <p:nvPr/>
        </p:nvSpPr>
        <p:spPr>
          <a:xfrm>
            <a:off x="511832" y="6738991"/>
            <a:ext cx="3090745" cy="215084"/>
          </a:xfrm>
          <a:prstGeom prst="rect">
            <a:avLst/>
          </a:prstGeom>
          <a:noFill/>
          <a:ln/>
        </p:spPr>
        <p:txBody>
          <a:bodyPr wrap="none" lIns="0" tIns="0" rIns="0" bIns="0" rtlCol="0" anchor="t"/>
          <a:lstStyle/>
          <a:p>
            <a:pPr algn="l" indent="0" marL="0">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Task Creation Flow</a:t>
            </a:r>
            <a:endParaRPr lang="en-US" sz="1350" dirty="0"/>
          </a:p>
        </p:txBody>
      </p:sp>
      <p:sp>
        <p:nvSpPr>
          <p:cNvPr id="15" name="Text 12"/>
          <p:cNvSpPr/>
          <p:nvPr/>
        </p:nvSpPr>
        <p:spPr>
          <a:xfrm>
            <a:off x="511832" y="7100295"/>
            <a:ext cx="3090745" cy="2574423"/>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2E"/>
                </a:solidFill>
                <a:latin typeface="PT Sans" pitchFamily="34" charset="0"/>
                <a:ea typeface="PT Sans" pitchFamily="34" charset="-122"/>
                <a:cs typeface="PT Sans" pitchFamily="34" charset="-120"/>
              </a:rPr>
              <a:t>The task creation flow starts from the dashboard when the user clicks "Add Task." The user then enters task details such as title, description, category, priority, and due date. The system performs validation on the entered data to ensure all required fields are complete and properly formatted. If validation passes, the task is saved to the database, and the dashboard is updated to reflect the new task. If validation fails, the user is prompted to correct the input before resubmitting.</a:t>
            </a:r>
            <a:endParaRPr lang="en-US" sz="1150" dirty="0"/>
          </a:p>
        </p:txBody>
      </p:sp>
      <p:sp>
        <p:nvSpPr>
          <p:cNvPr id="16" name="Text 13"/>
          <p:cNvSpPr/>
          <p:nvPr/>
        </p:nvSpPr>
        <p:spPr>
          <a:xfrm>
            <a:off x="3963327" y="6738991"/>
            <a:ext cx="3090745" cy="215084"/>
          </a:xfrm>
          <a:prstGeom prst="rect">
            <a:avLst/>
          </a:prstGeom>
          <a:noFill/>
          <a:ln/>
        </p:spPr>
        <p:txBody>
          <a:bodyPr wrap="none" lIns="0" tIns="0" rIns="0" bIns="0" rtlCol="0" anchor="t"/>
          <a:lstStyle/>
          <a:p>
            <a:pPr algn="l" indent="0" marL="0">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Login Flow</a:t>
            </a:r>
            <a:endParaRPr lang="en-US" sz="1350" dirty="0"/>
          </a:p>
        </p:txBody>
      </p:sp>
      <p:sp>
        <p:nvSpPr>
          <p:cNvPr id="17" name="Text 14"/>
          <p:cNvSpPr/>
          <p:nvPr/>
        </p:nvSpPr>
        <p:spPr>
          <a:xfrm>
            <a:off x="3963327" y="7100295"/>
            <a:ext cx="3090745" cy="2808462"/>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2E"/>
                </a:solidFill>
                <a:latin typeface="PT Sans" pitchFamily="34" charset="0"/>
                <a:ea typeface="PT Sans" pitchFamily="34" charset="-122"/>
                <a:cs typeface="PT Sans" pitchFamily="34" charset="-120"/>
              </a:rPr>
              <a:t>The login flow begins at the home page, where the user selects the login option. The user enters their email and password, which are submitted for authentication. The system verifies the credentials against the database. If authentication succeeds, the user is directed to the dashboard with full access to their task list. If authentication fails — due to incorrect credentials or a system error — an error message is displayed, and the user is prompted to try again or use the registration option if they do not yet have an account.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11832" y="402167"/>
            <a:ext cx="6538363" cy="387151"/>
          </a:xfrm>
          <a:prstGeom prst="rect">
            <a:avLst/>
          </a:prstGeom>
          <a:noFill/>
          <a:ln/>
        </p:spPr>
        <p:txBody>
          <a:bodyPr wrap="none" lIns="0" tIns="0" rIns="0" bIns="0" rtlCol="0" anchor="t"/>
          <a:lstStyle/>
          <a:p>
            <a:pPr algn="l" indent="0" marL="0">
              <a:lnSpc>
                <a:spcPct val="104000"/>
              </a:lnSpc>
              <a:buNone/>
            </a:pPr>
            <a:r>
              <a:rPr lang="en-US" sz="2400" dirty="0">
                <a:solidFill>
                  <a:srgbClr val="00002E"/>
                </a:solidFill>
                <a:latin typeface="Nunito SemiBold" pitchFamily="34" charset="0"/>
                <a:ea typeface="Nunito SemiBold" pitchFamily="34" charset="-122"/>
                <a:cs typeface="Nunito SemiBold" pitchFamily="34" charset="-120"/>
              </a:rPr>
              <a:t>Technical Architecture</a:t>
            </a:r>
            <a:endParaRPr lang="en-US" sz="2400" dirty="0"/>
          </a:p>
        </p:txBody>
      </p:sp>
      <p:sp>
        <p:nvSpPr>
          <p:cNvPr id="3" name="Text 1"/>
          <p:cNvSpPr/>
          <p:nvPr/>
        </p:nvSpPr>
        <p:spPr>
          <a:xfrm>
            <a:off x="511832" y="1026188"/>
            <a:ext cx="6538363" cy="1000341"/>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The Smart Task Manager uses a three-tier architecture consisting of a Presentation Layer (React Frontend), an Application Layer (Node.js/Express REST API), and a Data Layer (MongoDB Database). This separation ensures modularity, scalability, and maintainability — each layer can be developed, tested, and updated independently. The frontend communicates with the backend via Axios HTTP requests, while the backend processes requests through JWT authentication middleware and business logic before interacting with the database.</a:t>
            </a:r>
            <a:endParaRPr lang="en-US" sz="1000" dirty="0"/>
          </a:p>
        </p:txBody>
      </p:sp>
      <p:pic>
        <p:nvPicPr>
          <p:cNvPr id="4" name="Image 0" descr="preencoded.png">    </p:cNvPr>
          <p:cNvPicPr>
            <a:picLocks noChangeAspect="1"/>
          </p:cNvPicPr>
          <p:nvPr/>
        </p:nvPicPr>
        <p:blipFill>
          <a:blip r:embed="rId1"/>
          <a:stretch>
            <a:fillRect/>
          </a:stretch>
        </p:blipFill>
        <p:spPr>
          <a:xfrm>
            <a:off x="1796611" y="2159763"/>
            <a:ext cx="3968742" cy="2983052"/>
          </a:xfrm>
          <a:prstGeom prst="rect">
            <a:avLst/>
          </a:prstGeom>
        </p:spPr>
      </p:pic>
      <p:sp>
        <p:nvSpPr>
          <p:cNvPr id="5" name="Text 2"/>
          <p:cNvSpPr/>
          <p:nvPr/>
        </p:nvSpPr>
        <p:spPr>
          <a:xfrm>
            <a:off x="3417480" y="3598973"/>
            <a:ext cx="723784" cy="311323"/>
          </a:xfrm>
          <a:prstGeom prst="rect">
            <a:avLst/>
          </a:prstGeom>
          <a:noFill/>
          <a:ln/>
        </p:spPr>
        <p:txBody>
          <a:bodyPr wrap="square" lIns="0" tIns="0" rIns="0" bIns="0" rtlCol="0" anchor="t">
            <a:normAutofit/>
          </a:bodyPr>
          <a:lstStyle/>
          <a:p>
            <a:pPr algn="ctr" indent="0" marL="0">
              <a:lnSpc>
                <a:spcPct val="104000"/>
              </a:lnSpc>
              <a:buNone/>
            </a:pPr>
            <a:r>
              <a:rPr lang="en-US" sz="950" dirty="0">
                <a:solidFill>
                  <a:srgbClr val="FFFFFF"/>
                </a:solidFill>
                <a:latin typeface="Nunito SemiBold" pitchFamily="34" charset="0"/>
                <a:ea typeface="Nunito SemiBold" pitchFamily="34" charset="-122"/>
                <a:cs typeface="Nunito SemiBold" pitchFamily="34" charset="-120"/>
              </a:rPr>
              <a:t>Three-tier Architecture</a:t>
            </a:r>
            <a:endParaRPr lang="en-US" sz="950" dirty="0"/>
          </a:p>
        </p:txBody>
      </p:sp>
      <p:sp>
        <p:nvSpPr>
          <p:cNvPr id="6" name="Text 3"/>
          <p:cNvSpPr/>
          <p:nvPr/>
        </p:nvSpPr>
        <p:spPr>
          <a:xfrm>
            <a:off x="4500214" y="4365971"/>
            <a:ext cx="1076758" cy="155662"/>
          </a:xfrm>
          <a:prstGeom prst="rect">
            <a:avLst/>
          </a:prstGeom>
          <a:noFill/>
          <a:ln/>
        </p:spPr>
        <p:txBody>
          <a:bodyPr wrap="none" lIns="0" tIns="0" rIns="0" bIns="0" rtlCol="0" anchor="t"/>
          <a:lstStyle/>
          <a:p>
            <a:pPr algn="ctr" indent="0" marL="0">
              <a:lnSpc>
                <a:spcPct val="104000"/>
              </a:lnSpc>
              <a:buNone/>
            </a:pPr>
            <a:r>
              <a:rPr lang="en-US" sz="950" dirty="0">
                <a:solidFill>
                  <a:srgbClr val="00002E"/>
                </a:solidFill>
                <a:latin typeface="Nunito SemiBold" pitchFamily="34" charset="0"/>
                <a:ea typeface="Nunito SemiBold" pitchFamily="34" charset="-122"/>
                <a:cs typeface="Nunito SemiBold" pitchFamily="34" charset="-120"/>
              </a:rPr>
              <a:t>Express REST API</a:t>
            </a:r>
            <a:endParaRPr lang="en-US" sz="950" dirty="0"/>
          </a:p>
        </p:txBody>
      </p:sp>
      <p:sp>
        <p:nvSpPr>
          <p:cNvPr id="7" name="Text 4"/>
          <p:cNvSpPr/>
          <p:nvPr/>
        </p:nvSpPr>
        <p:spPr>
          <a:xfrm>
            <a:off x="4500214" y="4568708"/>
            <a:ext cx="1076758" cy="251559"/>
          </a:xfrm>
          <a:prstGeom prst="rect">
            <a:avLst/>
          </a:prstGeom>
          <a:noFill/>
          <a:ln/>
        </p:spPr>
        <p:txBody>
          <a:bodyPr wrap="square" lIns="0" tIns="0" rIns="0" bIns="0" rtlCol="0" anchor="t">
            <a:normAutofit/>
          </a:bodyPr>
          <a:lstStyle/>
          <a:p>
            <a:pPr algn="ctr" indent="0" marL="0">
              <a:lnSpc>
                <a:spcPct val="99000"/>
              </a:lnSpc>
              <a:buNone/>
            </a:pPr>
            <a:r>
              <a:rPr lang="en-US" sz="800" dirty="0">
                <a:solidFill>
                  <a:srgbClr val="00002E"/>
                </a:solidFill>
                <a:latin typeface="PT Sans" pitchFamily="34" charset="0"/>
                <a:ea typeface="PT Sans" pitchFamily="34" charset="-122"/>
                <a:cs typeface="PT Sans" pitchFamily="34" charset="-120"/>
              </a:rPr>
              <a:t>Application layer with JWT middleware</a:t>
            </a:r>
            <a:endParaRPr lang="en-US" sz="800" dirty="0"/>
          </a:p>
        </p:txBody>
      </p:sp>
      <p:sp>
        <p:nvSpPr>
          <p:cNvPr id="8" name="Text 5"/>
          <p:cNvSpPr/>
          <p:nvPr/>
        </p:nvSpPr>
        <p:spPr>
          <a:xfrm>
            <a:off x="1975797" y="4288095"/>
            <a:ext cx="1076758" cy="311323"/>
          </a:xfrm>
          <a:prstGeom prst="rect">
            <a:avLst/>
          </a:prstGeom>
          <a:noFill/>
          <a:ln/>
        </p:spPr>
        <p:txBody>
          <a:bodyPr wrap="square" lIns="0" tIns="0" rIns="0" bIns="0" rtlCol="0" anchor="t">
            <a:normAutofit/>
          </a:bodyPr>
          <a:lstStyle/>
          <a:p>
            <a:pPr algn="ctr" indent="0" marL="0">
              <a:lnSpc>
                <a:spcPct val="104000"/>
              </a:lnSpc>
              <a:buNone/>
            </a:pPr>
            <a:r>
              <a:rPr lang="en-US" sz="950" dirty="0">
                <a:solidFill>
                  <a:srgbClr val="00002E"/>
                </a:solidFill>
                <a:latin typeface="Nunito SemiBold" pitchFamily="34" charset="0"/>
                <a:ea typeface="Nunito SemiBold" pitchFamily="34" charset="-122"/>
                <a:cs typeface="Nunito SemiBold" pitchFamily="34" charset="-120"/>
              </a:rPr>
              <a:t>MongoDB Database</a:t>
            </a:r>
            <a:endParaRPr lang="en-US" sz="950" dirty="0"/>
          </a:p>
        </p:txBody>
      </p:sp>
      <p:sp>
        <p:nvSpPr>
          <p:cNvPr id="9" name="Text 6"/>
          <p:cNvSpPr/>
          <p:nvPr/>
        </p:nvSpPr>
        <p:spPr>
          <a:xfrm>
            <a:off x="1975797" y="4646493"/>
            <a:ext cx="1076758" cy="251559"/>
          </a:xfrm>
          <a:prstGeom prst="rect">
            <a:avLst/>
          </a:prstGeom>
          <a:noFill/>
          <a:ln/>
        </p:spPr>
        <p:txBody>
          <a:bodyPr wrap="square" lIns="0" tIns="0" rIns="0" bIns="0" rtlCol="0" anchor="t">
            <a:normAutofit/>
          </a:bodyPr>
          <a:lstStyle/>
          <a:p>
            <a:pPr algn="ctr" indent="0" marL="0">
              <a:lnSpc>
                <a:spcPct val="99000"/>
              </a:lnSpc>
              <a:buNone/>
            </a:pPr>
            <a:r>
              <a:rPr lang="en-US" sz="800" dirty="0">
                <a:solidFill>
                  <a:srgbClr val="00002E"/>
                </a:solidFill>
                <a:latin typeface="PT Sans" pitchFamily="34" charset="0"/>
                <a:ea typeface="PT Sans" pitchFamily="34" charset="-122"/>
                <a:cs typeface="PT Sans" pitchFamily="34" charset="-120"/>
              </a:rPr>
              <a:t>Data layer for persistent storage</a:t>
            </a:r>
            <a:endParaRPr lang="en-US" sz="800" dirty="0"/>
          </a:p>
        </p:txBody>
      </p:sp>
      <p:sp>
        <p:nvSpPr>
          <p:cNvPr id="10" name="Text 7"/>
          <p:cNvSpPr/>
          <p:nvPr/>
        </p:nvSpPr>
        <p:spPr>
          <a:xfrm>
            <a:off x="3223294" y="2409399"/>
            <a:ext cx="1106180" cy="155662"/>
          </a:xfrm>
          <a:prstGeom prst="rect">
            <a:avLst/>
          </a:prstGeom>
          <a:noFill/>
          <a:ln/>
        </p:spPr>
        <p:txBody>
          <a:bodyPr wrap="none" lIns="0" tIns="0" rIns="0" bIns="0" rtlCol="0" anchor="t"/>
          <a:lstStyle/>
          <a:p>
            <a:pPr algn="ctr" indent="0" marL="0">
              <a:lnSpc>
                <a:spcPct val="104000"/>
              </a:lnSpc>
              <a:buNone/>
            </a:pPr>
            <a:r>
              <a:rPr lang="en-US" sz="950" dirty="0">
                <a:solidFill>
                  <a:srgbClr val="00002E"/>
                </a:solidFill>
                <a:latin typeface="Nunito SemiBold" pitchFamily="34" charset="0"/>
                <a:ea typeface="Nunito SemiBold" pitchFamily="34" charset="-122"/>
                <a:cs typeface="Nunito SemiBold" pitchFamily="34" charset="-120"/>
              </a:rPr>
              <a:t>React Frontend</a:t>
            </a:r>
            <a:endParaRPr lang="en-US" sz="950" dirty="0"/>
          </a:p>
        </p:txBody>
      </p:sp>
      <p:sp>
        <p:nvSpPr>
          <p:cNvPr id="11" name="Text 8"/>
          <p:cNvSpPr/>
          <p:nvPr/>
        </p:nvSpPr>
        <p:spPr>
          <a:xfrm>
            <a:off x="3223294" y="2612136"/>
            <a:ext cx="1106180" cy="251559"/>
          </a:xfrm>
          <a:prstGeom prst="rect">
            <a:avLst/>
          </a:prstGeom>
          <a:noFill/>
          <a:ln/>
        </p:spPr>
        <p:txBody>
          <a:bodyPr wrap="square" lIns="0" tIns="0" rIns="0" bIns="0" rtlCol="0" anchor="t">
            <a:normAutofit/>
          </a:bodyPr>
          <a:lstStyle/>
          <a:p>
            <a:pPr algn="ctr" indent="0" marL="0">
              <a:lnSpc>
                <a:spcPct val="99000"/>
              </a:lnSpc>
              <a:buNone/>
            </a:pPr>
            <a:r>
              <a:rPr lang="en-US" sz="800" dirty="0">
                <a:solidFill>
                  <a:srgbClr val="00002E"/>
                </a:solidFill>
                <a:latin typeface="PT Sans" pitchFamily="34" charset="0"/>
                <a:ea typeface="PT Sans" pitchFamily="34" charset="-122"/>
                <a:cs typeface="PT Sans" pitchFamily="34" charset="-120"/>
              </a:rPr>
              <a:t>Presentation layer using Axios</a:t>
            </a:r>
            <a:endParaRPr lang="en-US" sz="800" dirty="0"/>
          </a:p>
        </p:txBody>
      </p:sp>
      <p:sp>
        <p:nvSpPr>
          <p:cNvPr id="12" name="Text 9"/>
          <p:cNvSpPr/>
          <p:nvPr/>
        </p:nvSpPr>
        <p:spPr>
          <a:xfrm>
            <a:off x="511832" y="5276050"/>
            <a:ext cx="6538363" cy="1200409"/>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The frontend layer is built with React and React Router for component-based UI and client-side routing, Axios for HTTP communication with the backend, and CSS/Tailwind CSS for responsive styling. The backend layer uses Node.js as the JavaScript runtime and Express.js as the lightweight framework for building RESTful APIs. Authentication is handled through JWT for stateless token-based sessions and bcrypt for secure password hashing. The data layer uses MongoDB, a NoSQL database that stores data in flexible JSON-like documents, integrating seamlessly with the Node.js stack.</a:t>
            </a:r>
            <a:endParaRPr lang="en-US" sz="1000" dirty="0"/>
          </a:p>
        </p:txBody>
      </p:sp>
      <p:sp>
        <p:nvSpPr>
          <p:cNvPr id="13" name="Shape 10"/>
          <p:cNvSpPr/>
          <p:nvPr/>
        </p:nvSpPr>
        <p:spPr>
          <a:xfrm>
            <a:off x="511832" y="6609694"/>
            <a:ext cx="6538363" cy="3197644"/>
          </a:xfrm>
          <a:prstGeom prst="roundRect">
            <a:avLst>
              <a:gd name="adj" fmla="val 6175"/>
            </a:avLst>
          </a:prstGeom>
          <a:noFill/>
          <a:ln w="7877">
            <a:solidFill>
              <a:srgbClr val="000000">
                <a:alpha val="8000"/>
              </a:srgbClr>
            </a:solidFill>
            <a:prstDash val="solid"/>
          </a:ln>
        </p:spPr>
      </p:sp>
      <p:sp>
        <p:nvSpPr>
          <p:cNvPr id="14" name="Shape 11"/>
          <p:cNvSpPr/>
          <p:nvPr/>
        </p:nvSpPr>
        <p:spPr>
          <a:xfrm>
            <a:off x="511832" y="6971491"/>
            <a:ext cx="6538363" cy="8227"/>
          </a:xfrm>
          <a:prstGeom prst="rect">
            <a:avLst/>
          </a:prstGeom>
          <a:solidFill>
            <a:srgbClr val="000000">
              <a:alpha val="8000"/>
            </a:srgbClr>
          </a:solidFill>
          <a:ln/>
        </p:spPr>
      </p:sp>
      <p:sp>
        <p:nvSpPr>
          <p:cNvPr id="15" name="Shape 12"/>
          <p:cNvSpPr/>
          <p:nvPr/>
        </p:nvSpPr>
        <p:spPr>
          <a:xfrm>
            <a:off x="511832" y="7729485"/>
            <a:ext cx="6538363" cy="8227"/>
          </a:xfrm>
          <a:prstGeom prst="rect">
            <a:avLst/>
          </a:prstGeom>
          <a:solidFill>
            <a:srgbClr val="000000">
              <a:alpha val="8000"/>
            </a:srgbClr>
          </a:solidFill>
          <a:ln/>
        </p:spPr>
      </p:sp>
      <p:sp>
        <p:nvSpPr>
          <p:cNvPr id="16" name="Shape 13"/>
          <p:cNvSpPr/>
          <p:nvPr/>
        </p:nvSpPr>
        <p:spPr>
          <a:xfrm>
            <a:off x="511832" y="8487479"/>
            <a:ext cx="6538363" cy="8227"/>
          </a:xfrm>
          <a:prstGeom prst="rect">
            <a:avLst/>
          </a:prstGeom>
          <a:solidFill>
            <a:srgbClr val="000000">
              <a:alpha val="8000"/>
            </a:srgbClr>
          </a:solidFill>
          <a:ln/>
        </p:spPr>
      </p:sp>
      <p:sp>
        <p:nvSpPr>
          <p:cNvPr id="17" name="Shape 14"/>
          <p:cNvSpPr/>
          <p:nvPr/>
        </p:nvSpPr>
        <p:spPr>
          <a:xfrm>
            <a:off x="511832" y="9045405"/>
            <a:ext cx="6538363" cy="8227"/>
          </a:xfrm>
          <a:prstGeom prst="rect">
            <a:avLst/>
          </a:prstGeom>
          <a:solidFill>
            <a:srgbClr val="000000">
              <a:alpha val="8000"/>
            </a:srgbClr>
          </a:solidFill>
          <a:ln/>
        </p:spPr>
      </p:sp>
      <p:sp>
        <p:nvSpPr>
          <p:cNvPr id="18" name="Shape 15"/>
          <p:cNvSpPr/>
          <p:nvPr/>
        </p:nvSpPr>
        <p:spPr>
          <a:xfrm>
            <a:off x="2150469" y="6609694"/>
            <a:ext cx="8227" cy="3197644"/>
          </a:xfrm>
          <a:prstGeom prst="rect">
            <a:avLst/>
          </a:prstGeom>
          <a:solidFill>
            <a:srgbClr val="000000">
              <a:alpha val="8000"/>
            </a:srgbClr>
          </a:solidFill>
          <a:ln/>
        </p:spPr>
      </p:sp>
      <p:sp>
        <p:nvSpPr>
          <p:cNvPr id="19" name="Shape 16"/>
          <p:cNvSpPr/>
          <p:nvPr/>
        </p:nvSpPr>
        <p:spPr>
          <a:xfrm>
            <a:off x="4563777" y="6609694"/>
            <a:ext cx="8227" cy="3197644"/>
          </a:xfrm>
          <a:prstGeom prst="rect">
            <a:avLst/>
          </a:prstGeom>
          <a:solidFill>
            <a:srgbClr val="000000">
              <a:alpha val="8000"/>
            </a:srgbClr>
          </a:solidFill>
          <a:ln/>
        </p:spPr>
      </p:sp>
      <p:sp>
        <p:nvSpPr>
          <p:cNvPr id="20" name="Text 17"/>
          <p:cNvSpPr/>
          <p:nvPr/>
        </p:nvSpPr>
        <p:spPr>
          <a:xfrm>
            <a:off x="651405" y="6692528"/>
            <a:ext cx="1741656" cy="200068"/>
          </a:xfrm>
          <a:prstGeom prst="rect">
            <a:avLst/>
          </a:prstGeom>
          <a:noFill/>
          <a:ln/>
        </p:spPr>
        <p:txBody>
          <a:bodyPr wrap="none" lIns="0" tIns="0" rIns="0" bIns="0" rtlCol="0" anchor="t"/>
          <a:lstStyle/>
          <a:p>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Component</a:t>
            </a:r>
            <a:endParaRPr lang="en-US" sz="1000" dirty="0"/>
          </a:p>
        </p:txBody>
      </p:sp>
      <p:sp>
        <p:nvSpPr>
          <p:cNvPr id="21" name="Text 18"/>
          <p:cNvSpPr/>
          <p:nvPr/>
        </p:nvSpPr>
        <p:spPr>
          <a:xfrm>
            <a:off x="2285981" y="6692528"/>
            <a:ext cx="2520388" cy="200068"/>
          </a:xfrm>
          <a:prstGeom prst="rect">
            <a:avLst/>
          </a:prstGeom>
          <a:noFill/>
          <a:ln/>
        </p:spPr>
        <p:txBody>
          <a:bodyPr wrap="none" lIns="0" tIns="0" rIns="0" bIns="0" rtlCol="0" anchor="t"/>
          <a:lstStyle/>
          <a:p>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Technology</a:t>
            </a:r>
            <a:endParaRPr lang="en-US" sz="1000" dirty="0"/>
          </a:p>
        </p:txBody>
      </p:sp>
      <p:sp>
        <p:nvSpPr>
          <p:cNvPr id="22" name="Text 19"/>
          <p:cNvSpPr/>
          <p:nvPr/>
        </p:nvSpPr>
        <p:spPr>
          <a:xfrm>
            <a:off x="4699289" y="6692528"/>
            <a:ext cx="2589560" cy="200068"/>
          </a:xfrm>
          <a:prstGeom prst="rect">
            <a:avLst/>
          </a:prstGeom>
          <a:noFill/>
          <a:ln/>
        </p:spPr>
        <p:txBody>
          <a:bodyPr wrap="none" lIns="0" tIns="0" rIns="0" bIns="0" rtlCol="0" anchor="t"/>
          <a:lstStyle/>
          <a:p>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Description</a:t>
            </a:r>
            <a:endParaRPr lang="en-US" sz="1000" dirty="0"/>
          </a:p>
        </p:txBody>
      </p:sp>
      <p:sp>
        <p:nvSpPr>
          <p:cNvPr id="23" name="Text 20"/>
          <p:cNvSpPr/>
          <p:nvPr/>
        </p:nvSpPr>
        <p:spPr>
          <a:xfrm>
            <a:off x="651405" y="7050386"/>
            <a:ext cx="1741656"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Frontend</a:t>
            </a:r>
            <a:endParaRPr lang="en-US" sz="1000" dirty="0"/>
          </a:p>
        </p:txBody>
      </p:sp>
      <p:sp>
        <p:nvSpPr>
          <p:cNvPr id="24" name="Text 21"/>
          <p:cNvSpPr/>
          <p:nvPr/>
        </p:nvSpPr>
        <p:spPr>
          <a:xfrm>
            <a:off x="2285981" y="7050386"/>
            <a:ext cx="2142284" cy="400136"/>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React, React Router, Axios, CSS / Tailwind CSS</a:t>
            </a:r>
            <a:endParaRPr lang="en-US" sz="1000" dirty="0"/>
          </a:p>
        </p:txBody>
      </p:sp>
      <p:sp>
        <p:nvSpPr>
          <p:cNvPr id="25" name="Text 22"/>
          <p:cNvSpPr/>
          <p:nvPr/>
        </p:nvSpPr>
        <p:spPr>
          <a:xfrm>
            <a:off x="4699289" y="7050386"/>
            <a:ext cx="2211455" cy="600204"/>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Component-based UI with client-side routing, HTTP requests, and responsive styling</a:t>
            </a:r>
            <a:endParaRPr lang="en-US" sz="1000" dirty="0"/>
          </a:p>
        </p:txBody>
      </p:sp>
      <p:sp>
        <p:nvSpPr>
          <p:cNvPr id="26" name="Text 23"/>
          <p:cNvSpPr/>
          <p:nvPr/>
        </p:nvSpPr>
        <p:spPr>
          <a:xfrm>
            <a:off x="651405" y="7808380"/>
            <a:ext cx="1741656"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Backend</a:t>
            </a:r>
            <a:endParaRPr lang="en-US" sz="1000" dirty="0"/>
          </a:p>
        </p:txBody>
      </p:sp>
      <p:sp>
        <p:nvSpPr>
          <p:cNvPr id="27" name="Text 24"/>
          <p:cNvSpPr/>
          <p:nvPr/>
        </p:nvSpPr>
        <p:spPr>
          <a:xfrm>
            <a:off x="2285981" y="7808380"/>
            <a:ext cx="2520388"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Node.js, Express.js</a:t>
            </a:r>
            <a:endParaRPr lang="en-US" sz="1000" dirty="0"/>
          </a:p>
        </p:txBody>
      </p:sp>
      <p:sp>
        <p:nvSpPr>
          <p:cNvPr id="28" name="Text 25"/>
          <p:cNvSpPr/>
          <p:nvPr/>
        </p:nvSpPr>
        <p:spPr>
          <a:xfrm>
            <a:off x="4699289" y="7808380"/>
            <a:ext cx="2211455" cy="600204"/>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High-performance JavaScript runtime with a lightweight RESTful API framework</a:t>
            </a:r>
            <a:endParaRPr lang="en-US" sz="1000" dirty="0"/>
          </a:p>
        </p:txBody>
      </p:sp>
      <p:sp>
        <p:nvSpPr>
          <p:cNvPr id="29" name="Text 26"/>
          <p:cNvSpPr/>
          <p:nvPr/>
        </p:nvSpPr>
        <p:spPr>
          <a:xfrm>
            <a:off x="651405" y="8566374"/>
            <a:ext cx="1741656"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Authentication</a:t>
            </a:r>
            <a:endParaRPr lang="en-US" sz="1000" dirty="0"/>
          </a:p>
        </p:txBody>
      </p:sp>
      <p:sp>
        <p:nvSpPr>
          <p:cNvPr id="30" name="Text 27"/>
          <p:cNvSpPr/>
          <p:nvPr/>
        </p:nvSpPr>
        <p:spPr>
          <a:xfrm>
            <a:off x="2285981" y="8566374"/>
            <a:ext cx="2520388"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JWT, bcrypt</a:t>
            </a:r>
            <a:endParaRPr lang="en-US" sz="1000" dirty="0"/>
          </a:p>
        </p:txBody>
      </p:sp>
      <p:sp>
        <p:nvSpPr>
          <p:cNvPr id="31" name="Text 28"/>
          <p:cNvSpPr/>
          <p:nvPr/>
        </p:nvSpPr>
        <p:spPr>
          <a:xfrm>
            <a:off x="4699289" y="8566374"/>
            <a:ext cx="2211455" cy="400136"/>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Stateless token-based authentication with secure password hashing</a:t>
            </a:r>
            <a:endParaRPr lang="en-US" sz="1000" dirty="0"/>
          </a:p>
        </p:txBody>
      </p:sp>
      <p:sp>
        <p:nvSpPr>
          <p:cNvPr id="32" name="Text 29"/>
          <p:cNvSpPr/>
          <p:nvPr/>
        </p:nvSpPr>
        <p:spPr>
          <a:xfrm>
            <a:off x="651405" y="9124300"/>
            <a:ext cx="1741656"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Database</a:t>
            </a:r>
            <a:endParaRPr lang="en-US" sz="1000" dirty="0"/>
          </a:p>
        </p:txBody>
      </p:sp>
      <p:sp>
        <p:nvSpPr>
          <p:cNvPr id="33" name="Text 30"/>
          <p:cNvSpPr/>
          <p:nvPr/>
        </p:nvSpPr>
        <p:spPr>
          <a:xfrm>
            <a:off x="2285981" y="9124300"/>
            <a:ext cx="2520388"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MongoDB</a:t>
            </a:r>
            <a:endParaRPr lang="en-US" sz="1000" dirty="0"/>
          </a:p>
        </p:txBody>
      </p:sp>
      <p:sp>
        <p:nvSpPr>
          <p:cNvPr id="34" name="Text 31"/>
          <p:cNvSpPr/>
          <p:nvPr/>
        </p:nvSpPr>
        <p:spPr>
          <a:xfrm>
            <a:off x="4699289" y="9124300"/>
            <a:ext cx="2211455" cy="600204"/>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NoSQL document database with flexible JSON-like storage, well-suited for evolving data structures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11832" y="402167"/>
            <a:ext cx="6538363" cy="387151"/>
          </a:xfrm>
          <a:prstGeom prst="rect">
            <a:avLst/>
          </a:prstGeom>
          <a:noFill/>
          <a:ln/>
        </p:spPr>
        <p:txBody>
          <a:bodyPr wrap="none" lIns="0" tIns="0" rIns="0" bIns="0" rtlCol="0" anchor="t"/>
          <a:lstStyle/>
          <a:p>
            <a:pPr algn="l" indent="0" marL="0">
              <a:lnSpc>
                <a:spcPct val="104000"/>
              </a:lnSpc>
              <a:buNone/>
            </a:pPr>
            <a:r>
              <a:rPr lang="en-US" sz="2400" dirty="0">
                <a:solidFill>
                  <a:srgbClr val="00002E"/>
                </a:solidFill>
                <a:latin typeface="Nunito SemiBold" pitchFamily="34" charset="0"/>
                <a:ea typeface="Nunito SemiBold" pitchFamily="34" charset="-122"/>
                <a:cs typeface="Nunito SemiBold" pitchFamily="34" charset="-120"/>
              </a:rPr>
              <a:t>Database Schema</a:t>
            </a:r>
            <a:endParaRPr lang="en-US" sz="2400" dirty="0"/>
          </a:p>
        </p:txBody>
      </p:sp>
      <p:sp>
        <p:nvSpPr>
          <p:cNvPr id="3" name="Text 1"/>
          <p:cNvSpPr/>
          <p:nvPr/>
        </p:nvSpPr>
        <p:spPr>
          <a:xfrm>
            <a:off x="511832" y="1026188"/>
            <a:ext cx="6538363" cy="1000341"/>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The Smart Task Manager uses two primary MongoDB collections: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Users</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and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Tasks</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MongoDB stores data in flexible JSON-like documents, which integrates well with Node.js and is suitable for applications where the data structure may evolve over time. The Users collection stores account information with encrypted passwords, while the Tasks collection stores all task-related data linked to the owning user via a foreign key reference (userId). This one-to-many relationship means one user can have multiple tasks, and each task belongs to exactly one user.</a:t>
            </a:r>
            <a:endParaRPr lang="en-US" sz="1000" dirty="0"/>
          </a:p>
        </p:txBody>
      </p:sp>
      <p:sp>
        <p:nvSpPr>
          <p:cNvPr id="4" name="Shape 2"/>
          <p:cNvSpPr/>
          <p:nvPr/>
        </p:nvSpPr>
        <p:spPr>
          <a:xfrm>
            <a:off x="417059" y="2159763"/>
            <a:ext cx="3298136" cy="4765080"/>
          </a:xfrm>
          <a:prstGeom prst="roundRect">
            <a:avLst>
              <a:gd name="adj" fmla="val 9578"/>
            </a:avLst>
          </a:prstGeom>
          <a:solidFill>
            <a:srgbClr val="2D4DF2">
              <a:alpha val="75000"/>
            </a:srgbClr>
          </a:solidFill>
          <a:ln/>
        </p:spPr>
      </p:sp>
      <p:sp>
        <p:nvSpPr>
          <p:cNvPr id="5" name="Text 3"/>
          <p:cNvSpPr/>
          <p:nvPr/>
        </p:nvSpPr>
        <p:spPr>
          <a:xfrm>
            <a:off x="548633" y="2278167"/>
            <a:ext cx="3034989" cy="193545"/>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Nunito SemiBold" pitchFamily="34" charset="0"/>
                <a:ea typeface="Nunito SemiBold" pitchFamily="34" charset="-122"/>
                <a:cs typeface="Nunito SemiBold" pitchFamily="34" charset="-120"/>
              </a:rPr>
              <a:t>Users Collection</a:t>
            </a:r>
            <a:endParaRPr lang="en-US" sz="1200" dirty="0"/>
          </a:p>
        </p:txBody>
      </p:sp>
      <p:sp>
        <p:nvSpPr>
          <p:cNvPr id="6" name="Shape 4"/>
          <p:cNvSpPr/>
          <p:nvPr/>
        </p:nvSpPr>
        <p:spPr>
          <a:xfrm>
            <a:off x="548633" y="2604947"/>
            <a:ext cx="3034989" cy="2555161"/>
          </a:xfrm>
          <a:prstGeom prst="roundRect">
            <a:avLst>
              <a:gd name="adj" fmla="val 7727"/>
            </a:avLst>
          </a:prstGeom>
          <a:noFill/>
          <a:ln w="7877">
            <a:solidFill>
              <a:srgbClr val="FFFFFF">
                <a:alpha val="24000"/>
              </a:srgbClr>
            </a:solidFill>
            <a:prstDash val="solid"/>
          </a:ln>
        </p:spPr>
      </p:sp>
      <p:sp>
        <p:nvSpPr>
          <p:cNvPr id="7" name="Shape 5"/>
          <p:cNvSpPr/>
          <p:nvPr/>
        </p:nvSpPr>
        <p:spPr>
          <a:xfrm>
            <a:off x="548633" y="2966744"/>
            <a:ext cx="3034989" cy="8227"/>
          </a:xfrm>
          <a:prstGeom prst="rect">
            <a:avLst/>
          </a:prstGeom>
          <a:solidFill>
            <a:srgbClr val="FFFFFF">
              <a:alpha val="24000"/>
            </a:srgbClr>
          </a:solidFill>
          <a:ln/>
        </p:spPr>
      </p:sp>
      <p:sp>
        <p:nvSpPr>
          <p:cNvPr id="8" name="Shape 6"/>
          <p:cNvSpPr/>
          <p:nvPr/>
        </p:nvSpPr>
        <p:spPr>
          <a:xfrm>
            <a:off x="548633" y="3324602"/>
            <a:ext cx="3034989" cy="8227"/>
          </a:xfrm>
          <a:prstGeom prst="rect">
            <a:avLst/>
          </a:prstGeom>
          <a:solidFill>
            <a:srgbClr val="FFFFFF">
              <a:alpha val="24000"/>
            </a:srgbClr>
          </a:solidFill>
          <a:ln/>
        </p:spPr>
      </p:sp>
      <p:sp>
        <p:nvSpPr>
          <p:cNvPr id="9" name="Shape 7"/>
          <p:cNvSpPr/>
          <p:nvPr/>
        </p:nvSpPr>
        <p:spPr>
          <a:xfrm>
            <a:off x="548633" y="3682460"/>
            <a:ext cx="3034989" cy="8227"/>
          </a:xfrm>
          <a:prstGeom prst="rect">
            <a:avLst/>
          </a:prstGeom>
          <a:solidFill>
            <a:srgbClr val="FFFFFF">
              <a:alpha val="24000"/>
            </a:srgbClr>
          </a:solidFill>
          <a:ln/>
        </p:spPr>
      </p:sp>
      <p:sp>
        <p:nvSpPr>
          <p:cNvPr id="10" name="Shape 8"/>
          <p:cNvSpPr/>
          <p:nvPr/>
        </p:nvSpPr>
        <p:spPr>
          <a:xfrm>
            <a:off x="548633" y="4040317"/>
            <a:ext cx="3034989" cy="8227"/>
          </a:xfrm>
          <a:prstGeom prst="rect">
            <a:avLst/>
          </a:prstGeom>
          <a:solidFill>
            <a:srgbClr val="FFFFFF">
              <a:alpha val="24000"/>
            </a:srgbClr>
          </a:solidFill>
          <a:ln/>
        </p:spPr>
      </p:sp>
      <p:sp>
        <p:nvSpPr>
          <p:cNvPr id="11" name="Shape 9"/>
          <p:cNvSpPr/>
          <p:nvPr/>
        </p:nvSpPr>
        <p:spPr>
          <a:xfrm>
            <a:off x="548633" y="4598243"/>
            <a:ext cx="3034989" cy="8227"/>
          </a:xfrm>
          <a:prstGeom prst="rect">
            <a:avLst/>
          </a:prstGeom>
          <a:solidFill>
            <a:srgbClr val="FFFFFF">
              <a:alpha val="24000"/>
            </a:srgbClr>
          </a:solidFill>
          <a:ln/>
        </p:spPr>
      </p:sp>
      <p:sp>
        <p:nvSpPr>
          <p:cNvPr id="12" name="Text 10"/>
          <p:cNvSpPr/>
          <p:nvPr/>
        </p:nvSpPr>
        <p:spPr>
          <a:xfrm>
            <a:off x="688145" y="2687781"/>
            <a:ext cx="1171668" cy="200068"/>
          </a:xfrm>
          <a:prstGeom prst="rect">
            <a:avLst/>
          </a:prstGeom>
          <a:noFill/>
          <a:ln/>
        </p:spPr>
        <p:txBody>
          <a:bodyPr wrap="none" lIns="0" tIns="0" rIns="0" bIns="0" rtlCol="0" anchor="t"/>
          <a:lstStyle/>
          <a:p>
            <a:pPr algn="l" indent="0" marL="0">
              <a:lnSpc>
                <a:spcPct val="127000"/>
              </a:lnSpc>
              <a:buNone/>
            </a:pPr>
            <a:r>
              <a:rPr lang="en-US" sz="1000" b="1" dirty="0">
                <a:solidFill>
                  <a:srgbClr val="FFFFFF"/>
                </a:solidFill>
                <a:latin typeface="PT Sans Bold" pitchFamily="34" charset="0"/>
                <a:ea typeface="PT Sans Bold" pitchFamily="34" charset="-122"/>
                <a:cs typeface="PT Sans Bold" pitchFamily="34" charset="-120"/>
              </a:rPr>
              <a:t>Field</a:t>
            </a:r>
            <a:endParaRPr lang="en-US" sz="1000" dirty="0"/>
          </a:p>
        </p:txBody>
      </p:sp>
      <p:sp>
        <p:nvSpPr>
          <p:cNvPr id="13" name="Text 11"/>
          <p:cNvSpPr/>
          <p:nvPr/>
        </p:nvSpPr>
        <p:spPr>
          <a:xfrm>
            <a:off x="1744856" y="2687781"/>
            <a:ext cx="1020710" cy="200068"/>
          </a:xfrm>
          <a:prstGeom prst="rect">
            <a:avLst/>
          </a:prstGeom>
          <a:noFill/>
          <a:ln/>
        </p:spPr>
        <p:txBody>
          <a:bodyPr wrap="none" lIns="0" tIns="0" rIns="0" bIns="0" rtlCol="0" anchor="t"/>
          <a:lstStyle/>
          <a:p>
            <a:pPr algn="l" indent="0" marL="0">
              <a:lnSpc>
                <a:spcPct val="127000"/>
              </a:lnSpc>
              <a:buNone/>
            </a:pPr>
            <a:r>
              <a:rPr lang="en-US" sz="1000" b="1" dirty="0">
                <a:solidFill>
                  <a:srgbClr val="FFFFFF"/>
                </a:solidFill>
                <a:latin typeface="PT Sans Bold" pitchFamily="34" charset="0"/>
                <a:ea typeface="PT Sans Bold" pitchFamily="34" charset="-122"/>
                <a:cs typeface="PT Sans Bold" pitchFamily="34" charset="-120"/>
              </a:rPr>
              <a:t>Type</a:t>
            </a:r>
            <a:endParaRPr lang="en-US" sz="1000" dirty="0"/>
          </a:p>
        </p:txBody>
      </p:sp>
      <p:sp>
        <p:nvSpPr>
          <p:cNvPr id="14" name="Text 12"/>
          <p:cNvSpPr/>
          <p:nvPr/>
        </p:nvSpPr>
        <p:spPr>
          <a:xfrm>
            <a:off x="2650608" y="2687781"/>
            <a:ext cx="1171668" cy="200068"/>
          </a:xfrm>
          <a:prstGeom prst="rect">
            <a:avLst/>
          </a:prstGeom>
          <a:noFill/>
          <a:ln/>
        </p:spPr>
        <p:txBody>
          <a:bodyPr wrap="none" lIns="0" tIns="0" rIns="0" bIns="0" rtlCol="0" anchor="t"/>
          <a:lstStyle/>
          <a:p>
            <a:pPr algn="l" indent="0" marL="0">
              <a:lnSpc>
                <a:spcPct val="127000"/>
              </a:lnSpc>
              <a:buNone/>
            </a:pPr>
            <a:r>
              <a:rPr lang="en-US" sz="1000" b="1" dirty="0">
                <a:solidFill>
                  <a:srgbClr val="FFFFFF"/>
                </a:solidFill>
                <a:latin typeface="PT Sans Bold" pitchFamily="34" charset="0"/>
                <a:ea typeface="PT Sans Bold" pitchFamily="34" charset="-122"/>
                <a:cs typeface="PT Sans Bold" pitchFamily="34" charset="-120"/>
              </a:rPr>
              <a:t>Description</a:t>
            </a:r>
            <a:endParaRPr lang="en-US" sz="1000" dirty="0"/>
          </a:p>
        </p:txBody>
      </p:sp>
      <p:sp>
        <p:nvSpPr>
          <p:cNvPr id="15" name="Text 13"/>
          <p:cNvSpPr/>
          <p:nvPr/>
        </p:nvSpPr>
        <p:spPr>
          <a:xfrm>
            <a:off x="688145" y="3045639"/>
            <a:ext cx="1171668"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_id</a:t>
            </a:r>
            <a:endParaRPr lang="en-US" sz="1000" dirty="0"/>
          </a:p>
        </p:txBody>
      </p:sp>
      <p:sp>
        <p:nvSpPr>
          <p:cNvPr id="16" name="Text 14"/>
          <p:cNvSpPr/>
          <p:nvPr/>
        </p:nvSpPr>
        <p:spPr>
          <a:xfrm>
            <a:off x="1744856" y="3045639"/>
            <a:ext cx="1020710"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ObjectId</a:t>
            </a:r>
            <a:endParaRPr lang="en-US" sz="1000" dirty="0"/>
          </a:p>
        </p:txBody>
      </p:sp>
      <p:sp>
        <p:nvSpPr>
          <p:cNvPr id="17" name="Text 15"/>
          <p:cNvSpPr/>
          <p:nvPr/>
        </p:nvSpPr>
        <p:spPr>
          <a:xfrm>
            <a:off x="2650608" y="3045639"/>
            <a:ext cx="1171668"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Unique ID</a:t>
            </a:r>
            <a:endParaRPr lang="en-US" sz="1000" dirty="0"/>
          </a:p>
        </p:txBody>
      </p:sp>
      <p:sp>
        <p:nvSpPr>
          <p:cNvPr id="18" name="Text 16"/>
          <p:cNvSpPr/>
          <p:nvPr/>
        </p:nvSpPr>
        <p:spPr>
          <a:xfrm>
            <a:off x="688145" y="3403496"/>
            <a:ext cx="1171668"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name</a:t>
            </a:r>
            <a:endParaRPr lang="en-US" sz="1000" dirty="0"/>
          </a:p>
        </p:txBody>
      </p:sp>
      <p:sp>
        <p:nvSpPr>
          <p:cNvPr id="19" name="Text 17"/>
          <p:cNvSpPr/>
          <p:nvPr/>
        </p:nvSpPr>
        <p:spPr>
          <a:xfrm>
            <a:off x="1744856" y="3403496"/>
            <a:ext cx="1020710"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String</a:t>
            </a:r>
            <a:endParaRPr lang="en-US" sz="1000" dirty="0"/>
          </a:p>
        </p:txBody>
      </p:sp>
      <p:sp>
        <p:nvSpPr>
          <p:cNvPr id="20" name="Text 18"/>
          <p:cNvSpPr/>
          <p:nvPr/>
        </p:nvSpPr>
        <p:spPr>
          <a:xfrm>
            <a:off x="2650608" y="3403496"/>
            <a:ext cx="1171668"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User name</a:t>
            </a:r>
            <a:endParaRPr lang="en-US" sz="1000" dirty="0"/>
          </a:p>
        </p:txBody>
      </p:sp>
      <p:sp>
        <p:nvSpPr>
          <p:cNvPr id="21" name="Text 19"/>
          <p:cNvSpPr/>
          <p:nvPr/>
        </p:nvSpPr>
        <p:spPr>
          <a:xfrm>
            <a:off x="688145" y="3761354"/>
            <a:ext cx="1171668"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email</a:t>
            </a:r>
            <a:endParaRPr lang="en-US" sz="1000" dirty="0"/>
          </a:p>
        </p:txBody>
      </p:sp>
      <p:sp>
        <p:nvSpPr>
          <p:cNvPr id="22" name="Text 20"/>
          <p:cNvSpPr/>
          <p:nvPr/>
        </p:nvSpPr>
        <p:spPr>
          <a:xfrm>
            <a:off x="1744856" y="3761354"/>
            <a:ext cx="1020710"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String</a:t>
            </a:r>
            <a:endParaRPr lang="en-US" sz="1000" dirty="0"/>
          </a:p>
        </p:txBody>
      </p:sp>
      <p:sp>
        <p:nvSpPr>
          <p:cNvPr id="23" name="Text 21"/>
          <p:cNvSpPr/>
          <p:nvPr/>
        </p:nvSpPr>
        <p:spPr>
          <a:xfrm>
            <a:off x="2650608" y="3761354"/>
            <a:ext cx="1171668"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User email</a:t>
            </a:r>
            <a:endParaRPr lang="en-US" sz="1000" dirty="0"/>
          </a:p>
        </p:txBody>
      </p:sp>
      <p:sp>
        <p:nvSpPr>
          <p:cNvPr id="24" name="Text 22"/>
          <p:cNvSpPr/>
          <p:nvPr/>
        </p:nvSpPr>
        <p:spPr>
          <a:xfrm>
            <a:off x="688145" y="4119212"/>
            <a:ext cx="1171668"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password</a:t>
            </a:r>
            <a:endParaRPr lang="en-US" sz="1000" dirty="0"/>
          </a:p>
        </p:txBody>
      </p:sp>
      <p:sp>
        <p:nvSpPr>
          <p:cNvPr id="25" name="Text 23"/>
          <p:cNvSpPr/>
          <p:nvPr/>
        </p:nvSpPr>
        <p:spPr>
          <a:xfrm>
            <a:off x="1744856" y="4119212"/>
            <a:ext cx="1020710"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String</a:t>
            </a:r>
            <a:endParaRPr lang="en-US" sz="1000" dirty="0"/>
          </a:p>
        </p:txBody>
      </p:sp>
      <p:sp>
        <p:nvSpPr>
          <p:cNvPr id="26" name="Text 24"/>
          <p:cNvSpPr/>
          <p:nvPr/>
        </p:nvSpPr>
        <p:spPr>
          <a:xfrm>
            <a:off x="2650608" y="4119212"/>
            <a:ext cx="793564" cy="400136"/>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Encrypted password</a:t>
            </a:r>
            <a:endParaRPr lang="en-US" sz="1000" dirty="0"/>
          </a:p>
        </p:txBody>
      </p:sp>
      <p:sp>
        <p:nvSpPr>
          <p:cNvPr id="27" name="Text 25"/>
          <p:cNvSpPr/>
          <p:nvPr/>
        </p:nvSpPr>
        <p:spPr>
          <a:xfrm>
            <a:off x="688145" y="4677138"/>
            <a:ext cx="1171668"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createdAt</a:t>
            </a:r>
            <a:endParaRPr lang="en-US" sz="1000" dirty="0"/>
          </a:p>
        </p:txBody>
      </p:sp>
      <p:sp>
        <p:nvSpPr>
          <p:cNvPr id="28" name="Text 26"/>
          <p:cNvSpPr/>
          <p:nvPr/>
        </p:nvSpPr>
        <p:spPr>
          <a:xfrm>
            <a:off x="1744856" y="4677138"/>
            <a:ext cx="1020710" cy="200068"/>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Date</a:t>
            </a:r>
            <a:endParaRPr lang="en-US" sz="1000" dirty="0"/>
          </a:p>
        </p:txBody>
      </p:sp>
      <p:sp>
        <p:nvSpPr>
          <p:cNvPr id="29" name="Text 27"/>
          <p:cNvSpPr/>
          <p:nvPr/>
        </p:nvSpPr>
        <p:spPr>
          <a:xfrm>
            <a:off x="2650608" y="4677138"/>
            <a:ext cx="793564" cy="400136"/>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FFFFFF"/>
                </a:solidFill>
                <a:latin typeface="PT Sans" pitchFamily="34" charset="0"/>
                <a:ea typeface="PT Sans" pitchFamily="34" charset="-122"/>
                <a:cs typeface="PT Sans" pitchFamily="34" charset="-120"/>
              </a:rPr>
              <a:t>Registration date</a:t>
            </a:r>
            <a:endParaRPr lang="en-US" sz="1000" dirty="0"/>
          </a:p>
        </p:txBody>
      </p:sp>
      <p:sp>
        <p:nvSpPr>
          <p:cNvPr id="30" name="Text 28"/>
          <p:cNvSpPr/>
          <p:nvPr/>
        </p:nvSpPr>
        <p:spPr>
          <a:xfrm>
            <a:off x="3945480" y="2278167"/>
            <a:ext cx="3108592" cy="193545"/>
          </a:xfrm>
          <a:prstGeom prst="rect">
            <a:avLst/>
          </a:prstGeom>
          <a:noFill/>
          <a:ln/>
        </p:spPr>
        <p:txBody>
          <a:bodyPr wrap="none" lIns="0" tIns="0" rIns="0" bIns="0" rtlCol="0" anchor="t"/>
          <a:lstStyle/>
          <a:p>
            <a:pPr algn="l" indent="0" marL="0">
              <a:lnSpc>
                <a:spcPct val="104000"/>
              </a:lnSpc>
              <a:buNone/>
            </a:pPr>
            <a:r>
              <a:rPr lang="en-US" sz="1200" dirty="0">
                <a:solidFill>
                  <a:srgbClr val="00002E"/>
                </a:solidFill>
                <a:latin typeface="Nunito SemiBold" pitchFamily="34" charset="0"/>
                <a:ea typeface="Nunito SemiBold" pitchFamily="34" charset="-122"/>
                <a:cs typeface="Nunito SemiBold" pitchFamily="34" charset="-120"/>
              </a:rPr>
              <a:t>Tasks Collection</a:t>
            </a:r>
            <a:endParaRPr lang="en-US" sz="1200" dirty="0"/>
          </a:p>
        </p:txBody>
      </p:sp>
      <p:sp>
        <p:nvSpPr>
          <p:cNvPr id="31" name="Shape 29"/>
          <p:cNvSpPr/>
          <p:nvPr/>
        </p:nvSpPr>
        <p:spPr>
          <a:xfrm>
            <a:off x="3945480" y="2604947"/>
            <a:ext cx="3108592" cy="4186661"/>
          </a:xfrm>
          <a:prstGeom prst="roundRect">
            <a:avLst>
              <a:gd name="adj" fmla="val 6351"/>
            </a:avLst>
          </a:prstGeom>
          <a:noFill/>
          <a:ln w="7877">
            <a:solidFill>
              <a:srgbClr val="000000">
                <a:alpha val="8000"/>
              </a:srgbClr>
            </a:solidFill>
            <a:prstDash val="solid"/>
          </a:ln>
        </p:spPr>
      </p:sp>
      <p:sp>
        <p:nvSpPr>
          <p:cNvPr id="32" name="Shape 30"/>
          <p:cNvSpPr/>
          <p:nvPr/>
        </p:nvSpPr>
        <p:spPr>
          <a:xfrm>
            <a:off x="3945480" y="2966744"/>
            <a:ext cx="3108592" cy="8227"/>
          </a:xfrm>
          <a:prstGeom prst="rect">
            <a:avLst/>
          </a:prstGeom>
          <a:solidFill>
            <a:srgbClr val="000000">
              <a:alpha val="8000"/>
            </a:srgbClr>
          </a:solidFill>
          <a:ln/>
        </p:spPr>
      </p:sp>
      <p:sp>
        <p:nvSpPr>
          <p:cNvPr id="33" name="Shape 31"/>
          <p:cNvSpPr/>
          <p:nvPr/>
        </p:nvSpPr>
        <p:spPr>
          <a:xfrm>
            <a:off x="3945480" y="3324602"/>
            <a:ext cx="3108592" cy="8227"/>
          </a:xfrm>
          <a:prstGeom prst="rect">
            <a:avLst/>
          </a:prstGeom>
          <a:solidFill>
            <a:srgbClr val="000000">
              <a:alpha val="8000"/>
            </a:srgbClr>
          </a:solidFill>
          <a:ln/>
        </p:spPr>
      </p:sp>
      <p:sp>
        <p:nvSpPr>
          <p:cNvPr id="34" name="Shape 32"/>
          <p:cNvSpPr/>
          <p:nvPr/>
        </p:nvSpPr>
        <p:spPr>
          <a:xfrm>
            <a:off x="3945480" y="3682460"/>
            <a:ext cx="3108592" cy="8227"/>
          </a:xfrm>
          <a:prstGeom prst="rect">
            <a:avLst/>
          </a:prstGeom>
          <a:solidFill>
            <a:srgbClr val="000000">
              <a:alpha val="8000"/>
            </a:srgbClr>
          </a:solidFill>
          <a:ln/>
        </p:spPr>
      </p:sp>
      <p:sp>
        <p:nvSpPr>
          <p:cNvPr id="35" name="Shape 33"/>
          <p:cNvSpPr/>
          <p:nvPr/>
        </p:nvSpPr>
        <p:spPr>
          <a:xfrm>
            <a:off x="3945480" y="4240386"/>
            <a:ext cx="3108592" cy="8227"/>
          </a:xfrm>
          <a:prstGeom prst="rect">
            <a:avLst/>
          </a:prstGeom>
          <a:solidFill>
            <a:srgbClr val="000000">
              <a:alpha val="8000"/>
            </a:srgbClr>
          </a:solidFill>
          <a:ln/>
        </p:spPr>
      </p:sp>
      <p:sp>
        <p:nvSpPr>
          <p:cNvPr id="36" name="Shape 34"/>
          <p:cNvSpPr/>
          <p:nvPr/>
        </p:nvSpPr>
        <p:spPr>
          <a:xfrm>
            <a:off x="3945480" y="4598243"/>
            <a:ext cx="3108592" cy="8227"/>
          </a:xfrm>
          <a:prstGeom prst="rect">
            <a:avLst/>
          </a:prstGeom>
          <a:solidFill>
            <a:srgbClr val="000000">
              <a:alpha val="8000"/>
            </a:srgbClr>
          </a:solidFill>
          <a:ln/>
        </p:spPr>
      </p:sp>
      <p:sp>
        <p:nvSpPr>
          <p:cNvPr id="37" name="Shape 35"/>
          <p:cNvSpPr/>
          <p:nvPr/>
        </p:nvSpPr>
        <p:spPr>
          <a:xfrm>
            <a:off x="3945480" y="5156169"/>
            <a:ext cx="3108592" cy="8227"/>
          </a:xfrm>
          <a:prstGeom prst="rect">
            <a:avLst/>
          </a:prstGeom>
          <a:solidFill>
            <a:srgbClr val="000000">
              <a:alpha val="8000"/>
            </a:srgbClr>
          </a:solidFill>
          <a:ln/>
        </p:spPr>
      </p:sp>
      <p:sp>
        <p:nvSpPr>
          <p:cNvPr id="38" name="Shape 36"/>
          <p:cNvSpPr/>
          <p:nvPr/>
        </p:nvSpPr>
        <p:spPr>
          <a:xfrm>
            <a:off x="3945480" y="5514027"/>
            <a:ext cx="3108592" cy="8227"/>
          </a:xfrm>
          <a:prstGeom prst="rect">
            <a:avLst/>
          </a:prstGeom>
          <a:solidFill>
            <a:srgbClr val="000000">
              <a:alpha val="8000"/>
            </a:srgbClr>
          </a:solidFill>
          <a:ln/>
        </p:spPr>
      </p:sp>
      <p:sp>
        <p:nvSpPr>
          <p:cNvPr id="39" name="Shape 37"/>
          <p:cNvSpPr/>
          <p:nvPr/>
        </p:nvSpPr>
        <p:spPr>
          <a:xfrm>
            <a:off x="3945480" y="6071953"/>
            <a:ext cx="3108592" cy="8227"/>
          </a:xfrm>
          <a:prstGeom prst="rect">
            <a:avLst/>
          </a:prstGeom>
          <a:solidFill>
            <a:srgbClr val="000000">
              <a:alpha val="8000"/>
            </a:srgbClr>
          </a:solidFill>
          <a:ln/>
        </p:spPr>
      </p:sp>
      <p:sp>
        <p:nvSpPr>
          <p:cNvPr id="40" name="Shape 38"/>
          <p:cNvSpPr/>
          <p:nvPr/>
        </p:nvSpPr>
        <p:spPr>
          <a:xfrm>
            <a:off x="3945480" y="6429811"/>
            <a:ext cx="3108592" cy="8227"/>
          </a:xfrm>
          <a:prstGeom prst="rect">
            <a:avLst/>
          </a:prstGeom>
          <a:solidFill>
            <a:srgbClr val="000000">
              <a:alpha val="8000"/>
            </a:srgbClr>
          </a:solidFill>
          <a:ln/>
        </p:spPr>
      </p:sp>
      <p:sp>
        <p:nvSpPr>
          <p:cNvPr id="41" name="Text 39"/>
          <p:cNvSpPr/>
          <p:nvPr/>
        </p:nvSpPr>
        <p:spPr>
          <a:xfrm>
            <a:off x="4085054" y="2687781"/>
            <a:ext cx="1197392" cy="200068"/>
          </a:xfrm>
          <a:prstGeom prst="rect">
            <a:avLst/>
          </a:prstGeom>
          <a:noFill/>
          <a:ln/>
        </p:spPr>
        <p:txBody>
          <a:bodyPr wrap="none" lIns="0" tIns="0" rIns="0" bIns="0" rtlCol="0" anchor="t"/>
          <a:lstStyle/>
          <a:p>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Field</a:t>
            </a:r>
            <a:endParaRPr lang="en-US" sz="1000" dirty="0"/>
          </a:p>
        </p:txBody>
      </p:sp>
      <p:sp>
        <p:nvSpPr>
          <p:cNvPr id="42" name="Text 40"/>
          <p:cNvSpPr/>
          <p:nvPr/>
        </p:nvSpPr>
        <p:spPr>
          <a:xfrm>
            <a:off x="5167488" y="2687781"/>
            <a:ext cx="1042803" cy="200068"/>
          </a:xfrm>
          <a:prstGeom prst="rect">
            <a:avLst/>
          </a:prstGeom>
          <a:noFill/>
          <a:ln/>
        </p:spPr>
        <p:txBody>
          <a:bodyPr wrap="none" lIns="0" tIns="0" rIns="0" bIns="0" rtlCol="0" anchor="t"/>
          <a:lstStyle/>
          <a:p>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Type</a:t>
            </a:r>
            <a:endParaRPr lang="en-US" sz="1000" dirty="0"/>
          </a:p>
        </p:txBody>
      </p:sp>
      <p:sp>
        <p:nvSpPr>
          <p:cNvPr id="43" name="Text 41"/>
          <p:cNvSpPr/>
          <p:nvPr/>
        </p:nvSpPr>
        <p:spPr>
          <a:xfrm>
            <a:off x="6095333" y="2687781"/>
            <a:ext cx="1197392" cy="200068"/>
          </a:xfrm>
          <a:prstGeom prst="rect">
            <a:avLst/>
          </a:prstGeom>
          <a:noFill/>
          <a:ln/>
        </p:spPr>
        <p:txBody>
          <a:bodyPr wrap="none" lIns="0" tIns="0" rIns="0" bIns="0" rtlCol="0" anchor="t"/>
          <a:lstStyle/>
          <a:p>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Description</a:t>
            </a:r>
            <a:endParaRPr lang="en-US" sz="1000" dirty="0"/>
          </a:p>
        </p:txBody>
      </p:sp>
      <p:sp>
        <p:nvSpPr>
          <p:cNvPr id="44" name="Text 42"/>
          <p:cNvSpPr/>
          <p:nvPr/>
        </p:nvSpPr>
        <p:spPr>
          <a:xfrm>
            <a:off x="4085054" y="3045639"/>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_id</a:t>
            </a:r>
            <a:endParaRPr lang="en-US" sz="1000" dirty="0"/>
          </a:p>
        </p:txBody>
      </p:sp>
      <p:sp>
        <p:nvSpPr>
          <p:cNvPr id="45" name="Text 43"/>
          <p:cNvSpPr/>
          <p:nvPr/>
        </p:nvSpPr>
        <p:spPr>
          <a:xfrm>
            <a:off x="5167488" y="3045639"/>
            <a:ext cx="1042803"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ObjectId</a:t>
            </a:r>
            <a:endParaRPr lang="en-US" sz="1000" dirty="0"/>
          </a:p>
        </p:txBody>
      </p:sp>
      <p:sp>
        <p:nvSpPr>
          <p:cNvPr id="46" name="Text 44"/>
          <p:cNvSpPr/>
          <p:nvPr/>
        </p:nvSpPr>
        <p:spPr>
          <a:xfrm>
            <a:off x="6095333" y="3045639"/>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Task ID</a:t>
            </a:r>
            <a:endParaRPr lang="en-US" sz="1000" dirty="0"/>
          </a:p>
        </p:txBody>
      </p:sp>
      <p:sp>
        <p:nvSpPr>
          <p:cNvPr id="47" name="Text 45"/>
          <p:cNvSpPr/>
          <p:nvPr/>
        </p:nvSpPr>
        <p:spPr>
          <a:xfrm>
            <a:off x="4085054" y="3403496"/>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title</a:t>
            </a:r>
            <a:endParaRPr lang="en-US" sz="1000" dirty="0"/>
          </a:p>
        </p:txBody>
      </p:sp>
      <p:sp>
        <p:nvSpPr>
          <p:cNvPr id="48" name="Text 46"/>
          <p:cNvSpPr/>
          <p:nvPr/>
        </p:nvSpPr>
        <p:spPr>
          <a:xfrm>
            <a:off x="5167488" y="3403496"/>
            <a:ext cx="1042803"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String</a:t>
            </a:r>
            <a:endParaRPr lang="en-US" sz="1000" dirty="0"/>
          </a:p>
        </p:txBody>
      </p:sp>
      <p:sp>
        <p:nvSpPr>
          <p:cNvPr id="49" name="Text 47"/>
          <p:cNvSpPr/>
          <p:nvPr/>
        </p:nvSpPr>
        <p:spPr>
          <a:xfrm>
            <a:off x="6095333" y="3403496"/>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Task title</a:t>
            </a:r>
            <a:endParaRPr lang="en-US" sz="1000" dirty="0"/>
          </a:p>
        </p:txBody>
      </p:sp>
      <p:sp>
        <p:nvSpPr>
          <p:cNvPr id="50" name="Text 48"/>
          <p:cNvSpPr/>
          <p:nvPr/>
        </p:nvSpPr>
        <p:spPr>
          <a:xfrm>
            <a:off x="4085054" y="3761354"/>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description</a:t>
            </a:r>
            <a:endParaRPr lang="en-US" sz="1000" dirty="0"/>
          </a:p>
        </p:txBody>
      </p:sp>
      <p:sp>
        <p:nvSpPr>
          <p:cNvPr id="51" name="Text 49"/>
          <p:cNvSpPr/>
          <p:nvPr/>
        </p:nvSpPr>
        <p:spPr>
          <a:xfrm>
            <a:off x="5167488" y="3761354"/>
            <a:ext cx="1042803"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String</a:t>
            </a:r>
            <a:endParaRPr lang="en-US" sz="1000" dirty="0"/>
          </a:p>
        </p:txBody>
      </p:sp>
      <p:sp>
        <p:nvSpPr>
          <p:cNvPr id="52" name="Text 50"/>
          <p:cNvSpPr/>
          <p:nvPr/>
        </p:nvSpPr>
        <p:spPr>
          <a:xfrm>
            <a:off x="6095333" y="3761354"/>
            <a:ext cx="819288" cy="400136"/>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Task description</a:t>
            </a:r>
            <a:endParaRPr lang="en-US" sz="1000" dirty="0"/>
          </a:p>
        </p:txBody>
      </p:sp>
      <p:sp>
        <p:nvSpPr>
          <p:cNvPr id="53" name="Text 51"/>
          <p:cNvSpPr/>
          <p:nvPr/>
        </p:nvSpPr>
        <p:spPr>
          <a:xfrm>
            <a:off x="4085054" y="4319280"/>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category</a:t>
            </a:r>
            <a:endParaRPr lang="en-US" sz="1000" dirty="0"/>
          </a:p>
        </p:txBody>
      </p:sp>
      <p:sp>
        <p:nvSpPr>
          <p:cNvPr id="54" name="Text 52"/>
          <p:cNvSpPr/>
          <p:nvPr/>
        </p:nvSpPr>
        <p:spPr>
          <a:xfrm>
            <a:off x="5167488" y="4319280"/>
            <a:ext cx="1042803"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String</a:t>
            </a:r>
            <a:endParaRPr lang="en-US" sz="1000" dirty="0"/>
          </a:p>
        </p:txBody>
      </p:sp>
      <p:sp>
        <p:nvSpPr>
          <p:cNvPr id="55" name="Text 53"/>
          <p:cNvSpPr/>
          <p:nvPr/>
        </p:nvSpPr>
        <p:spPr>
          <a:xfrm>
            <a:off x="6095333" y="4319280"/>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Task category</a:t>
            </a:r>
            <a:endParaRPr lang="en-US" sz="1000" dirty="0"/>
          </a:p>
        </p:txBody>
      </p:sp>
      <p:sp>
        <p:nvSpPr>
          <p:cNvPr id="56" name="Text 54"/>
          <p:cNvSpPr/>
          <p:nvPr/>
        </p:nvSpPr>
        <p:spPr>
          <a:xfrm>
            <a:off x="4085054" y="4677138"/>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priority</a:t>
            </a:r>
            <a:endParaRPr lang="en-US" sz="1000" dirty="0"/>
          </a:p>
        </p:txBody>
      </p:sp>
      <p:sp>
        <p:nvSpPr>
          <p:cNvPr id="57" name="Text 55"/>
          <p:cNvSpPr/>
          <p:nvPr/>
        </p:nvSpPr>
        <p:spPr>
          <a:xfrm>
            <a:off x="5167488" y="4677138"/>
            <a:ext cx="1042803"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String</a:t>
            </a:r>
            <a:endParaRPr lang="en-US" sz="1000" dirty="0"/>
          </a:p>
        </p:txBody>
      </p:sp>
      <p:sp>
        <p:nvSpPr>
          <p:cNvPr id="58" name="Text 56"/>
          <p:cNvSpPr/>
          <p:nvPr/>
        </p:nvSpPr>
        <p:spPr>
          <a:xfrm>
            <a:off x="6095333" y="4677138"/>
            <a:ext cx="819288" cy="400136"/>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Low, Medium, High</a:t>
            </a:r>
            <a:endParaRPr lang="en-US" sz="1000" dirty="0"/>
          </a:p>
        </p:txBody>
      </p:sp>
      <p:sp>
        <p:nvSpPr>
          <p:cNvPr id="59" name="Text 57"/>
          <p:cNvSpPr/>
          <p:nvPr/>
        </p:nvSpPr>
        <p:spPr>
          <a:xfrm>
            <a:off x="4085054" y="5235064"/>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dueDate</a:t>
            </a:r>
            <a:endParaRPr lang="en-US" sz="1000" dirty="0"/>
          </a:p>
        </p:txBody>
      </p:sp>
      <p:sp>
        <p:nvSpPr>
          <p:cNvPr id="60" name="Text 58"/>
          <p:cNvSpPr/>
          <p:nvPr/>
        </p:nvSpPr>
        <p:spPr>
          <a:xfrm>
            <a:off x="5167488" y="5235064"/>
            <a:ext cx="1042803"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Date</a:t>
            </a:r>
            <a:endParaRPr lang="en-US" sz="1000" dirty="0"/>
          </a:p>
        </p:txBody>
      </p:sp>
      <p:sp>
        <p:nvSpPr>
          <p:cNvPr id="61" name="Text 59"/>
          <p:cNvSpPr/>
          <p:nvPr/>
        </p:nvSpPr>
        <p:spPr>
          <a:xfrm>
            <a:off x="6095333" y="5235064"/>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Due date</a:t>
            </a:r>
            <a:endParaRPr lang="en-US" sz="1000" dirty="0"/>
          </a:p>
        </p:txBody>
      </p:sp>
      <p:sp>
        <p:nvSpPr>
          <p:cNvPr id="62" name="Text 60"/>
          <p:cNvSpPr/>
          <p:nvPr/>
        </p:nvSpPr>
        <p:spPr>
          <a:xfrm>
            <a:off x="4085054" y="5592922"/>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status</a:t>
            </a:r>
            <a:endParaRPr lang="en-US" sz="1000" dirty="0"/>
          </a:p>
        </p:txBody>
      </p:sp>
      <p:sp>
        <p:nvSpPr>
          <p:cNvPr id="63" name="Text 61"/>
          <p:cNvSpPr/>
          <p:nvPr/>
        </p:nvSpPr>
        <p:spPr>
          <a:xfrm>
            <a:off x="5167488" y="5592922"/>
            <a:ext cx="1042803"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Boolean</a:t>
            </a:r>
            <a:endParaRPr lang="en-US" sz="1000" dirty="0"/>
          </a:p>
        </p:txBody>
      </p:sp>
      <p:sp>
        <p:nvSpPr>
          <p:cNvPr id="64" name="Text 62"/>
          <p:cNvSpPr/>
          <p:nvPr/>
        </p:nvSpPr>
        <p:spPr>
          <a:xfrm>
            <a:off x="6095333" y="5592922"/>
            <a:ext cx="819288" cy="400136"/>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Completed / Pending</a:t>
            </a:r>
            <a:endParaRPr lang="en-US" sz="1000" dirty="0"/>
          </a:p>
        </p:txBody>
      </p:sp>
      <p:sp>
        <p:nvSpPr>
          <p:cNvPr id="65" name="Text 63"/>
          <p:cNvSpPr/>
          <p:nvPr/>
        </p:nvSpPr>
        <p:spPr>
          <a:xfrm>
            <a:off x="4085054" y="6150848"/>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userId</a:t>
            </a:r>
            <a:endParaRPr lang="en-US" sz="1000" dirty="0"/>
          </a:p>
        </p:txBody>
      </p:sp>
      <p:sp>
        <p:nvSpPr>
          <p:cNvPr id="66" name="Text 64"/>
          <p:cNvSpPr/>
          <p:nvPr/>
        </p:nvSpPr>
        <p:spPr>
          <a:xfrm>
            <a:off x="5167488" y="6150848"/>
            <a:ext cx="1042803"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ObjectId</a:t>
            </a:r>
            <a:endParaRPr lang="en-US" sz="1000" dirty="0"/>
          </a:p>
        </p:txBody>
      </p:sp>
      <p:sp>
        <p:nvSpPr>
          <p:cNvPr id="67" name="Text 65"/>
          <p:cNvSpPr/>
          <p:nvPr/>
        </p:nvSpPr>
        <p:spPr>
          <a:xfrm>
            <a:off x="6095333" y="6150848"/>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Owner of task</a:t>
            </a:r>
            <a:endParaRPr lang="en-US" sz="1000" dirty="0"/>
          </a:p>
        </p:txBody>
      </p:sp>
      <p:sp>
        <p:nvSpPr>
          <p:cNvPr id="68" name="Text 66"/>
          <p:cNvSpPr/>
          <p:nvPr/>
        </p:nvSpPr>
        <p:spPr>
          <a:xfrm>
            <a:off x="4085054" y="6508706"/>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createdAt</a:t>
            </a:r>
            <a:endParaRPr lang="en-US" sz="1000" dirty="0"/>
          </a:p>
        </p:txBody>
      </p:sp>
      <p:sp>
        <p:nvSpPr>
          <p:cNvPr id="69" name="Text 67"/>
          <p:cNvSpPr/>
          <p:nvPr/>
        </p:nvSpPr>
        <p:spPr>
          <a:xfrm>
            <a:off x="5167488" y="6508706"/>
            <a:ext cx="1042803"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Date</a:t>
            </a:r>
            <a:endParaRPr lang="en-US" sz="1000" dirty="0"/>
          </a:p>
        </p:txBody>
      </p:sp>
      <p:sp>
        <p:nvSpPr>
          <p:cNvPr id="70" name="Text 68"/>
          <p:cNvSpPr/>
          <p:nvPr/>
        </p:nvSpPr>
        <p:spPr>
          <a:xfrm>
            <a:off x="6095333" y="6508706"/>
            <a:ext cx="1197392" cy="200068"/>
          </a:xfrm>
          <a:prstGeom prst="rect">
            <a:avLst/>
          </a:prstGeom>
          <a:noFill/>
          <a:ln/>
        </p:spPr>
        <p:txBody>
          <a:bodyPr wrap="none" lIns="0" tIns="0" rIns="0" bIns="0" rtlCol="0" anchor="t"/>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Created date</a:t>
            </a:r>
            <a:endParaRPr lang="en-US" sz="1000" dirty="0"/>
          </a:p>
        </p:txBody>
      </p:sp>
      <p:sp>
        <p:nvSpPr>
          <p:cNvPr id="71" name="Text 69"/>
          <p:cNvSpPr/>
          <p:nvPr/>
        </p:nvSpPr>
        <p:spPr>
          <a:xfrm>
            <a:off x="511832" y="7058078"/>
            <a:ext cx="6538363" cy="1400477"/>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The Users collection contains five fields: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_id</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(ObjectId, unique identifier),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name</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(String, user's display name),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email</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(String, used for login authentication),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password</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(String, encrypted using bcrypt for security), and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createdAt</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(Date, timestamp of account registration). The Tasks collection contains nine fields: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_id</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(ObjectId, unique task identifier),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title</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(String, the task name),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description</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(String, detailed task notes),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category</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(String, for grouping tasks),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priority</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(String, with values Low, Medium, or High),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dueDate</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(Date, deadline for the task),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status</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(Boolean, indicating Completed or Pending),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userId</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(ObjectId, reference to the owning user), and </a:t>
            </a:r>
            <a:pPr algn="l" indent="0" marL="0">
              <a:lnSpc>
                <a:spcPct val="127000"/>
              </a:lnSpc>
              <a:buNone/>
            </a:pPr>
            <a:r>
              <a:rPr lang="en-US" sz="1000" b="1" dirty="0">
                <a:solidFill>
                  <a:srgbClr val="00002E"/>
                </a:solidFill>
                <a:latin typeface="PT Sans Bold" pitchFamily="34" charset="0"/>
                <a:ea typeface="PT Sans Bold" pitchFamily="34" charset="-122"/>
                <a:cs typeface="PT Sans Bold" pitchFamily="34" charset="-120"/>
              </a:rPr>
              <a:t>createdAt</a:t>
            </a:r>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 (Date, timestamp of task creation).</a:t>
            </a:r>
            <a:endParaRPr lang="en-US" sz="1000" dirty="0"/>
          </a:p>
        </p:txBody>
      </p:sp>
      <p:sp>
        <p:nvSpPr>
          <p:cNvPr id="72" name="Shape 70"/>
          <p:cNvSpPr/>
          <p:nvPr/>
        </p:nvSpPr>
        <p:spPr>
          <a:xfrm>
            <a:off x="511832" y="8591790"/>
            <a:ext cx="6538363" cy="698731"/>
          </a:xfrm>
          <a:prstGeom prst="roundRect">
            <a:avLst>
              <a:gd name="adj" fmla="val 28257"/>
            </a:avLst>
          </a:prstGeom>
          <a:solidFill>
            <a:srgbClr val="CFD6FC"/>
          </a:solidFill>
          <a:ln/>
        </p:spPr>
      </p:sp>
      <p:pic>
        <p:nvPicPr>
          <p:cNvPr id="73" name="Image 0" descr="preencoded.png">    </p:cNvPr>
          <p:cNvPicPr>
            <a:picLocks noChangeAspect="1"/>
          </p:cNvPicPr>
          <p:nvPr/>
        </p:nvPicPr>
        <p:blipFill>
          <a:blip r:embed="rId1"/>
          <a:stretch>
            <a:fillRect/>
          </a:stretch>
        </p:blipFill>
        <p:spPr>
          <a:xfrm>
            <a:off x="643405" y="8774996"/>
            <a:ext cx="164498" cy="131574"/>
          </a:xfrm>
          <a:prstGeom prst="rect">
            <a:avLst/>
          </a:prstGeom>
        </p:spPr>
      </p:pic>
      <p:sp>
        <p:nvSpPr>
          <p:cNvPr id="74" name="Text 71"/>
          <p:cNvSpPr/>
          <p:nvPr/>
        </p:nvSpPr>
        <p:spPr>
          <a:xfrm>
            <a:off x="939476" y="8743057"/>
            <a:ext cx="5979145" cy="408013"/>
          </a:xfrm>
          <a:prstGeom prst="rect">
            <a:avLst/>
          </a:prstGeom>
          <a:noFill/>
          <a:ln/>
        </p:spPr>
        <p:txBody>
          <a:bodyPr wrap="square" lIns="0" tIns="0" rIns="0" bIns="0" rtlCol="0" anchor="t">
            <a:normAutofit/>
          </a:bodyPr>
          <a:lstStyle/>
          <a:p>
            <a:pPr algn="l" indent="0" marL="0">
              <a:lnSpc>
                <a:spcPct val="127000"/>
              </a:lnSpc>
              <a:buNone/>
            </a:pPr>
            <a:r>
              <a:rPr lang="en-US" sz="1000" b="1" dirty="0">
                <a:solidFill>
                  <a:srgbClr val="000000"/>
                </a:solidFill>
                <a:latin typeface="PT Sans Bold" pitchFamily="34" charset="0"/>
                <a:ea typeface="PT Sans Bold" pitchFamily="34" charset="-122"/>
                <a:cs typeface="PT Sans Bold" pitchFamily="34" charset="-120"/>
              </a:rPr>
              <a:t>Database Relationship:</a:t>
            </a:r>
            <a:pPr algn="l" indent="0" marL="0">
              <a:lnSpc>
                <a:spcPct val="127000"/>
              </a:lnSpc>
              <a:buNone/>
            </a:pPr>
            <a:r>
              <a:rPr lang="en-US" sz="1000" dirty="0">
                <a:solidFill>
                  <a:srgbClr val="000000"/>
                </a:solidFill>
                <a:latin typeface="PT Sans" pitchFamily="34" charset="0"/>
                <a:ea typeface="PT Sans" pitchFamily="34" charset="-122"/>
                <a:cs typeface="PT Sans" pitchFamily="34" charset="-120"/>
              </a:rPr>
              <a:t> One User → Many Tasks. Each task document includes a </a:t>
            </a:r>
            <a:pPr algn="l" indent="0" marL="0">
              <a:lnSpc>
                <a:spcPct val="127000"/>
              </a:lnSpc>
              <a:buNone/>
            </a:pPr>
            <a:r>
              <a:rPr lang="en-US" sz="1000" dirty="0">
                <a:solidFill>
                  <a:srgbClr val="000000"/>
                </a:solidFill>
                <a:highlight>
                  <a:srgbClr val="E6E6F2"/>
                </a:highlight>
                <a:latin typeface="Consolas" pitchFamily="34" charset="0"/>
                <a:ea typeface="Consolas" pitchFamily="34" charset="-122"/>
                <a:cs typeface="Consolas" pitchFamily="34" charset="-120"/>
              </a:rPr>
              <a:t>userId</a:t>
            </a:r>
            <a:pPr algn="l" indent="0" marL="0">
              <a:lnSpc>
                <a:spcPct val="127000"/>
              </a:lnSpc>
              <a:buNone/>
            </a:pPr>
            <a:r>
              <a:rPr lang="en-US" sz="1000" dirty="0">
                <a:solidFill>
                  <a:srgbClr val="000000"/>
                </a:solidFill>
                <a:latin typeface="PT Sans" pitchFamily="34" charset="0"/>
                <a:ea typeface="PT Sans" pitchFamily="34" charset="-122"/>
                <a:cs typeface="PT Sans" pitchFamily="34" charset="-120"/>
              </a:rPr>
              <a:t> field that references the owning user's </a:t>
            </a:r>
            <a:pPr algn="l" indent="0" marL="0">
              <a:lnSpc>
                <a:spcPct val="127000"/>
              </a:lnSpc>
              <a:buNone/>
            </a:pPr>
            <a:r>
              <a:rPr lang="en-US" sz="1000" dirty="0">
                <a:solidFill>
                  <a:srgbClr val="000000"/>
                </a:solidFill>
                <a:highlight>
                  <a:srgbClr val="E6E6F2"/>
                </a:highlight>
                <a:latin typeface="Consolas" pitchFamily="34" charset="0"/>
                <a:ea typeface="Consolas" pitchFamily="34" charset="-122"/>
                <a:cs typeface="Consolas" pitchFamily="34" charset="-120"/>
              </a:rPr>
              <a:t>_id</a:t>
            </a:r>
            <a:pPr algn="l" indent="0" marL="0">
              <a:lnSpc>
                <a:spcPct val="127000"/>
              </a:lnSpc>
              <a:buNone/>
            </a:pPr>
            <a:r>
              <a:rPr lang="en-US" sz="1000" dirty="0">
                <a:solidFill>
                  <a:srgbClr val="000000"/>
                </a:solidFill>
                <a:latin typeface="PT Sans" pitchFamily="34" charset="0"/>
                <a:ea typeface="PT Sans" pitchFamily="34" charset="-122"/>
                <a:cs typeface="PT Sans" pitchFamily="34" charset="-120"/>
              </a:rPr>
              <a:t>, enabling efficient querying of a user's personalized task list.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11832" y="402167"/>
            <a:ext cx="6538363" cy="365612"/>
          </a:xfrm>
          <a:prstGeom prst="rect">
            <a:avLst/>
          </a:prstGeom>
          <a:noFill/>
          <a:ln/>
        </p:spPr>
        <p:txBody>
          <a:bodyPr wrap="none" lIns="0" tIns="0" rIns="0" bIns="0" rtlCol="0" anchor="t"/>
          <a:lstStyle/>
          <a:p>
            <a:pPr algn="l" indent="0" marL="0">
              <a:lnSpc>
                <a:spcPct val="104000"/>
              </a:lnSpc>
              <a:buNone/>
            </a:pPr>
            <a:r>
              <a:rPr lang="en-US" sz="2300" dirty="0">
                <a:solidFill>
                  <a:srgbClr val="00002E"/>
                </a:solidFill>
                <a:latin typeface="Nunito SemiBold" pitchFamily="34" charset="0"/>
                <a:ea typeface="Nunito SemiBold" pitchFamily="34" charset="-122"/>
                <a:cs typeface="Nunito SemiBold" pitchFamily="34" charset="-120"/>
              </a:rPr>
              <a:t>API Design</a:t>
            </a:r>
            <a:endParaRPr lang="en-US" sz="2300" dirty="0"/>
          </a:p>
        </p:txBody>
      </p:sp>
      <p:sp>
        <p:nvSpPr>
          <p:cNvPr id="3" name="Text 1"/>
          <p:cNvSpPr/>
          <p:nvPr/>
        </p:nvSpPr>
        <p:spPr>
          <a:xfrm>
            <a:off x="511832" y="979109"/>
            <a:ext cx="6538363" cy="919723"/>
          </a:xfrm>
          <a:prstGeom prst="rect">
            <a:avLst/>
          </a:prstGeom>
          <a:noFill/>
          <a:ln/>
        </p:spPr>
        <p:txBody>
          <a:bodyPr wrap="square" lIns="0" tIns="0" rIns="0" bIns="0" rtlCol="0" anchor="t">
            <a:normAutofit/>
          </a:bodyPr>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The Smart Task Manager exposes a RESTful API organized into two resource groups: </a:t>
            </a:r>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Authentication APIs</a:t>
            </a:r>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 for user registration, login, and profile access, and </a:t>
            </a:r>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Task APIs</a:t>
            </a:r>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 for full CRUD operations on tasks. All task-related endpoints are protected by JWT authentication middleware, ensuring that users can only access and modify their own data. The API follows standard HTTP method conventions — POST for creation, GET for retrieval, PUT for updates, and DELETE for removal — returning consistent JSON responses for both success and error cases.</a:t>
            </a:r>
            <a:endParaRPr lang="en-US" sz="950" dirty="0"/>
          </a:p>
        </p:txBody>
      </p:sp>
      <p:sp>
        <p:nvSpPr>
          <p:cNvPr id="4" name="Text 2"/>
          <p:cNvSpPr/>
          <p:nvPr/>
        </p:nvSpPr>
        <p:spPr>
          <a:xfrm>
            <a:off x="511832" y="2057298"/>
            <a:ext cx="6538363" cy="182837"/>
          </a:xfrm>
          <a:prstGeom prst="rect">
            <a:avLst/>
          </a:prstGeom>
          <a:noFill/>
          <a:ln/>
        </p:spPr>
        <p:txBody>
          <a:bodyPr wrap="none" lIns="0" tIns="0" rIns="0" bIns="0" rtlCol="0" anchor="t"/>
          <a:lstStyle/>
          <a:p>
            <a:pPr algn="l" indent="0" marL="0">
              <a:lnSpc>
                <a:spcPct val="104000"/>
              </a:lnSpc>
              <a:buNone/>
            </a:pPr>
            <a:r>
              <a:rPr lang="en-US" sz="1150" dirty="0">
                <a:solidFill>
                  <a:srgbClr val="00002E"/>
                </a:solidFill>
                <a:latin typeface="Nunito SemiBold" pitchFamily="34" charset="0"/>
                <a:ea typeface="Nunito SemiBold" pitchFamily="34" charset="-122"/>
                <a:cs typeface="Nunito SemiBold" pitchFamily="34" charset="-120"/>
              </a:rPr>
              <a:t>Authentication APIs</a:t>
            </a:r>
            <a:endParaRPr lang="en-US" sz="1150" dirty="0"/>
          </a:p>
        </p:txBody>
      </p:sp>
      <p:sp>
        <p:nvSpPr>
          <p:cNvPr id="5" name="Shape 3"/>
          <p:cNvSpPr/>
          <p:nvPr/>
        </p:nvSpPr>
        <p:spPr>
          <a:xfrm>
            <a:off x="511832" y="2398602"/>
            <a:ext cx="6538363" cy="1294073"/>
          </a:xfrm>
          <a:prstGeom prst="roundRect">
            <a:avLst>
              <a:gd name="adj" fmla="val 14410"/>
            </a:avLst>
          </a:prstGeom>
          <a:noFill/>
          <a:ln w="3939">
            <a:solidFill>
              <a:srgbClr val="000000">
                <a:alpha val="8000"/>
              </a:srgbClr>
            </a:solidFill>
            <a:prstDash val="solid"/>
          </a:ln>
        </p:spPr>
      </p:sp>
      <p:sp>
        <p:nvSpPr>
          <p:cNvPr id="6" name="Shape 4"/>
          <p:cNvSpPr/>
          <p:nvPr/>
        </p:nvSpPr>
        <p:spPr>
          <a:xfrm>
            <a:off x="511832" y="2723105"/>
            <a:ext cx="6538363" cy="7770"/>
          </a:xfrm>
          <a:prstGeom prst="rect">
            <a:avLst/>
          </a:prstGeom>
          <a:solidFill>
            <a:srgbClr val="000000">
              <a:alpha val="8000"/>
            </a:srgbClr>
          </a:solidFill>
          <a:ln/>
        </p:spPr>
      </p:sp>
      <p:sp>
        <p:nvSpPr>
          <p:cNvPr id="7" name="Shape 5"/>
          <p:cNvSpPr/>
          <p:nvPr/>
        </p:nvSpPr>
        <p:spPr>
          <a:xfrm>
            <a:off x="511832" y="3045639"/>
            <a:ext cx="6538363" cy="7770"/>
          </a:xfrm>
          <a:prstGeom prst="rect">
            <a:avLst/>
          </a:prstGeom>
          <a:solidFill>
            <a:srgbClr val="000000">
              <a:alpha val="8000"/>
            </a:srgbClr>
          </a:solidFill>
          <a:ln/>
        </p:spPr>
      </p:sp>
      <p:sp>
        <p:nvSpPr>
          <p:cNvPr id="8" name="Shape 6"/>
          <p:cNvSpPr/>
          <p:nvPr/>
        </p:nvSpPr>
        <p:spPr>
          <a:xfrm>
            <a:off x="511832" y="3368172"/>
            <a:ext cx="6538363" cy="7770"/>
          </a:xfrm>
          <a:prstGeom prst="rect">
            <a:avLst/>
          </a:prstGeom>
          <a:solidFill>
            <a:srgbClr val="000000">
              <a:alpha val="8000"/>
            </a:srgbClr>
          </a:solidFill>
          <a:ln/>
        </p:spPr>
      </p:sp>
      <p:sp>
        <p:nvSpPr>
          <p:cNvPr id="9" name="Shape 7"/>
          <p:cNvSpPr/>
          <p:nvPr/>
        </p:nvSpPr>
        <p:spPr>
          <a:xfrm>
            <a:off x="1821966" y="2398602"/>
            <a:ext cx="7770" cy="1294073"/>
          </a:xfrm>
          <a:prstGeom prst="rect">
            <a:avLst/>
          </a:prstGeom>
          <a:solidFill>
            <a:srgbClr val="000000">
              <a:alpha val="8000"/>
            </a:srgbClr>
          </a:solidFill>
          <a:ln/>
        </p:spPr>
      </p:sp>
      <p:sp>
        <p:nvSpPr>
          <p:cNvPr id="10" name="Shape 8"/>
          <p:cNvSpPr/>
          <p:nvPr/>
        </p:nvSpPr>
        <p:spPr>
          <a:xfrm>
            <a:off x="4434111" y="2398602"/>
            <a:ext cx="7770" cy="1294073"/>
          </a:xfrm>
          <a:prstGeom prst="rect">
            <a:avLst/>
          </a:prstGeom>
          <a:solidFill>
            <a:srgbClr val="000000">
              <a:alpha val="8000"/>
            </a:srgbClr>
          </a:solidFill>
          <a:ln/>
        </p:spPr>
      </p:sp>
      <p:sp>
        <p:nvSpPr>
          <p:cNvPr id="11" name="Text 9"/>
          <p:cNvSpPr/>
          <p:nvPr/>
        </p:nvSpPr>
        <p:spPr>
          <a:xfrm>
            <a:off x="640205" y="2469866"/>
            <a:ext cx="1433584" cy="183945"/>
          </a:xfrm>
          <a:prstGeom prst="rect">
            <a:avLst/>
          </a:prstGeom>
          <a:noFill/>
          <a:ln/>
        </p:spPr>
        <p:txBody>
          <a:bodyPr wrap="none" lIns="0" tIns="0" rIns="0" bIns="0" rtlCol="0" anchor="t"/>
          <a:lstStyle/>
          <a:p>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Method</a:t>
            </a:r>
            <a:endParaRPr lang="en-US" sz="950" dirty="0"/>
          </a:p>
        </p:txBody>
      </p:sp>
      <p:sp>
        <p:nvSpPr>
          <p:cNvPr id="12" name="Text 10"/>
          <p:cNvSpPr/>
          <p:nvPr/>
        </p:nvSpPr>
        <p:spPr>
          <a:xfrm>
            <a:off x="1948247" y="2469866"/>
            <a:ext cx="2737688" cy="183945"/>
          </a:xfrm>
          <a:prstGeom prst="rect">
            <a:avLst/>
          </a:prstGeom>
          <a:noFill/>
          <a:ln/>
        </p:spPr>
        <p:txBody>
          <a:bodyPr wrap="none" lIns="0" tIns="0" rIns="0" bIns="0" rtlCol="0" anchor="t"/>
          <a:lstStyle/>
          <a:p>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Endpoint</a:t>
            </a:r>
            <a:endParaRPr lang="en-US" sz="950" dirty="0"/>
          </a:p>
        </p:txBody>
      </p:sp>
      <p:sp>
        <p:nvSpPr>
          <p:cNvPr id="13" name="Text 11"/>
          <p:cNvSpPr/>
          <p:nvPr/>
        </p:nvSpPr>
        <p:spPr>
          <a:xfrm>
            <a:off x="4560392" y="2469866"/>
            <a:ext cx="2739657" cy="183945"/>
          </a:xfrm>
          <a:prstGeom prst="rect">
            <a:avLst/>
          </a:prstGeom>
          <a:noFill/>
          <a:ln/>
        </p:spPr>
        <p:txBody>
          <a:bodyPr wrap="none" lIns="0" tIns="0" rIns="0" bIns="0" rtlCol="0" anchor="t"/>
          <a:lstStyle/>
          <a:p>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Purpose</a:t>
            </a:r>
            <a:endParaRPr lang="en-US" sz="950" dirty="0"/>
          </a:p>
        </p:txBody>
      </p:sp>
      <p:sp>
        <p:nvSpPr>
          <p:cNvPr id="14" name="Text 12"/>
          <p:cNvSpPr/>
          <p:nvPr/>
        </p:nvSpPr>
        <p:spPr>
          <a:xfrm>
            <a:off x="640205" y="2792399"/>
            <a:ext cx="1433584"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POST</a:t>
            </a:r>
            <a:endParaRPr lang="en-US" sz="950" dirty="0"/>
          </a:p>
        </p:txBody>
      </p:sp>
      <p:sp>
        <p:nvSpPr>
          <p:cNvPr id="15" name="Text 13"/>
          <p:cNvSpPr/>
          <p:nvPr/>
        </p:nvSpPr>
        <p:spPr>
          <a:xfrm>
            <a:off x="1948247" y="2792399"/>
            <a:ext cx="2737688"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/api/auth/register</a:t>
            </a:r>
            <a:endParaRPr lang="en-US" sz="950" dirty="0"/>
          </a:p>
        </p:txBody>
      </p:sp>
      <p:sp>
        <p:nvSpPr>
          <p:cNvPr id="16" name="Text 14"/>
          <p:cNvSpPr/>
          <p:nvPr/>
        </p:nvSpPr>
        <p:spPr>
          <a:xfrm>
            <a:off x="4560392" y="2792399"/>
            <a:ext cx="2739657"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Register user</a:t>
            </a:r>
            <a:endParaRPr lang="en-US" sz="950" dirty="0"/>
          </a:p>
        </p:txBody>
      </p:sp>
      <p:sp>
        <p:nvSpPr>
          <p:cNvPr id="17" name="Text 15"/>
          <p:cNvSpPr/>
          <p:nvPr/>
        </p:nvSpPr>
        <p:spPr>
          <a:xfrm>
            <a:off x="640205" y="3114933"/>
            <a:ext cx="1433584"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POST</a:t>
            </a:r>
            <a:endParaRPr lang="en-US" sz="950" dirty="0"/>
          </a:p>
        </p:txBody>
      </p:sp>
      <p:sp>
        <p:nvSpPr>
          <p:cNvPr id="18" name="Text 16"/>
          <p:cNvSpPr/>
          <p:nvPr/>
        </p:nvSpPr>
        <p:spPr>
          <a:xfrm>
            <a:off x="1948247" y="3114933"/>
            <a:ext cx="2737688"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/api/auth/login</a:t>
            </a:r>
            <a:endParaRPr lang="en-US" sz="950" dirty="0"/>
          </a:p>
        </p:txBody>
      </p:sp>
      <p:sp>
        <p:nvSpPr>
          <p:cNvPr id="19" name="Text 17"/>
          <p:cNvSpPr/>
          <p:nvPr/>
        </p:nvSpPr>
        <p:spPr>
          <a:xfrm>
            <a:off x="4560392" y="3114933"/>
            <a:ext cx="2739657"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Login user</a:t>
            </a:r>
            <a:endParaRPr lang="en-US" sz="950" dirty="0"/>
          </a:p>
        </p:txBody>
      </p:sp>
      <p:sp>
        <p:nvSpPr>
          <p:cNvPr id="20" name="Text 18"/>
          <p:cNvSpPr/>
          <p:nvPr/>
        </p:nvSpPr>
        <p:spPr>
          <a:xfrm>
            <a:off x="640205" y="3437467"/>
            <a:ext cx="1433584"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GET</a:t>
            </a:r>
            <a:endParaRPr lang="en-US" sz="950" dirty="0"/>
          </a:p>
        </p:txBody>
      </p:sp>
      <p:sp>
        <p:nvSpPr>
          <p:cNvPr id="21" name="Text 19"/>
          <p:cNvSpPr/>
          <p:nvPr/>
        </p:nvSpPr>
        <p:spPr>
          <a:xfrm>
            <a:off x="1948247" y="3437467"/>
            <a:ext cx="2737688"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/api/auth/profile</a:t>
            </a:r>
            <a:endParaRPr lang="en-US" sz="950" dirty="0"/>
          </a:p>
        </p:txBody>
      </p:sp>
      <p:sp>
        <p:nvSpPr>
          <p:cNvPr id="22" name="Text 20"/>
          <p:cNvSpPr/>
          <p:nvPr/>
        </p:nvSpPr>
        <p:spPr>
          <a:xfrm>
            <a:off x="4560392" y="3437467"/>
            <a:ext cx="2739657"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User profile</a:t>
            </a:r>
            <a:endParaRPr lang="en-US" sz="950" dirty="0"/>
          </a:p>
        </p:txBody>
      </p:sp>
      <p:sp>
        <p:nvSpPr>
          <p:cNvPr id="23" name="Text 21"/>
          <p:cNvSpPr/>
          <p:nvPr/>
        </p:nvSpPr>
        <p:spPr>
          <a:xfrm>
            <a:off x="511832" y="3851142"/>
            <a:ext cx="6538363" cy="182837"/>
          </a:xfrm>
          <a:prstGeom prst="rect">
            <a:avLst/>
          </a:prstGeom>
          <a:noFill/>
          <a:ln/>
        </p:spPr>
        <p:txBody>
          <a:bodyPr wrap="none" lIns="0" tIns="0" rIns="0" bIns="0" rtlCol="0" anchor="t"/>
          <a:lstStyle/>
          <a:p>
            <a:pPr algn="l" indent="0" marL="0">
              <a:lnSpc>
                <a:spcPct val="104000"/>
              </a:lnSpc>
              <a:buNone/>
            </a:pPr>
            <a:r>
              <a:rPr lang="en-US" sz="1150" dirty="0">
                <a:solidFill>
                  <a:srgbClr val="00002E"/>
                </a:solidFill>
                <a:latin typeface="Nunito SemiBold" pitchFamily="34" charset="0"/>
                <a:ea typeface="Nunito SemiBold" pitchFamily="34" charset="-122"/>
                <a:cs typeface="Nunito SemiBold" pitchFamily="34" charset="-120"/>
              </a:rPr>
              <a:t>Task APIs</a:t>
            </a:r>
            <a:endParaRPr lang="en-US" sz="1150" dirty="0"/>
          </a:p>
        </p:txBody>
      </p:sp>
      <p:sp>
        <p:nvSpPr>
          <p:cNvPr id="24" name="Shape 22"/>
          <p:cNvSpPr/>
          <p:nvPr/>
        </p:nvSpPr>
        <p:spPr>
          <a:xfrm>
            <a:off x="511832" y="4192446"/>
            <a:ext cx="6538363" cy="1939141"/>
          </a:xfrm>
          <a:prstGeom prst="roundRect">
            <a:avLst>
              <a:gd name="adj" fmla="val 9616"/>
            </a:avLst>
          </a:prstGeom>
          <a:noFill/>
          <a:ln w="3939">
            <a:solidFill>
              <a:srgbClr val="000000">
                <a:alpha val="8000"/>
              </a:srgbClr>
            </a:solidFill>
            <a:prstDash val="solid"/>
          </a:ln>
        </p:spPr>
      </p:sp>
      <p:sp>
        <p:nvSpPr>
          <p:cNvPr id="25" name="Shape 23"/>
          <p:cNvSpPr/>
          <p:nvPr/>
        </p:nvSpPr>
        <p:spPr>
          <a:xfrm>
            <a:off x="511832" y="4516948"/>
            <a:ext cx="6538363" cy="7770"/>
          </a:xfrm>
          <a:prstGeom prst="rect">
            <a:avLst/>
          </a:prstGeom>
          <a:solidFill>
            <a:srgbClr val="000000">
              <a:alpha val="8000"/>
            </a:srgbClr>
          </a:solidFill>
          <a:ln/>
        </p:spPr>
      </p:sp>
      <p:sp>
        <p:nvSpPr>
          <p:cNvPr id="26" name="Shape 24"/>
          <p:cNvSpPr/>
          <p:nvPr/>
        </p:nvSpPr>
        <p:spPr>
          <a:xfrm>
            <a:off x="511832" y="4839482"/>
            <a:ext cx="6538363" cy="7770"/>
          </a:xfrm>
          <a:prstGeom prst="rect">
            <a:avLst/>
          </a:prstGeom>
          <a:solidFill>
            <a:srgbClr val="000000">
              <a:alpha val="8000"/>
            </a:srgbClr>
          </a:solidFill>
          <a:ln/>
        </p:spPr>
      </p:sp>
      <p:sp>
        <p:nvSpPr>
          <p:cNvPr id="27" name="Shape 25"/>
          <p:cNvSpPr/>
          <p:nvPr/>
        </p:nvSpPr>
        <p:spPr>
          <a:xfrm>
            <a:off x="511832" y="5162016"/>
            <a:ext cx="6538363" cy="7770"/>
          </a:xfrm>
          <a:prstGeom prst="rect">
            <a:avLst/>
          </a:prstGeom>
          <a:solidFill>
            <a:srgbClr val="000000">
              <a:alpha val="8000"/>
            </a:srgbClr>
          </a:solidFill>
          <a:ln/>
        </p:spPr>
      </p:sp>
      <p:sp>
        <p:nvSpPr>
          <p:cNvPr id="28" name="Shape 26"/>
          <p:cNvSpPr/>
          <p:nvPr/>
        </p:nvSpPr>
        <p:spPr>
          <a:xfrm>
            <a:off x="511832" y="5484550"/>
            <a:ext cx="6538363" cy="7770"/>
          </a:xfrm>
          <a:prstGeom prst="rect">
            <a:avLst/>
          </a:prstGeom>
          <a:solidFill>
            <a:srgbClr val="000000">
              <a:alpha val="8000"/>
            </a:srgbClr>
          </a:solidFill>
          <a:ln/>
        </p:spPr>
      </p:sp>
      <p:sp>
        <p:nvSpPr>
          <p:cNvPr id="29" name="Shape 27"/>
          <p:cNvSpPr/>
          <p:nvPr/>
        </p:nvSpPr>
        <p:spPr>
          <a:xfrm>
            <a:off x="511832" y="5807083"/>
            <a:ext cx="6538363" cy="7770"/>
          </a:xfrm>
          <a:prstGeom prst="rect">
            <a:avLst/>
          </a:prstGeom>
          <a:solidFill>
            <a:srgbClr val="000000">
              <a:alpha val="8000"/>
            </a:srgbClr>
          </a:solidFill>
          <a:ln/>
        </p:spPr>
      </p:sp>
      <p:sp>
        <p:nvSpPr>
          <p:cNvPr id="30" name="Shape 28"/>
          <p:cNvSpPr/>
          <p:nvPr/>
        </p:nvSpPr>
        <p:spPr>
          <a:xfrm>
            <a:off x="1821966" y="4192446"/>
            <a:ext cx="7770" cy="1939141"/>
          </a:xfrm>
          <a:prstGeom prst="rect">
            <a:avLst/>
          </a:prstGeom>
          <a:solidFill>
            <a:srgbClr val="000000">
              <a:alpha val="8000"/>
            </a:srgbClr>
          </a:solidFill>
          <a:ln/>
        </p:spPr>
      </p:sp>
      <p:sp>
        <p:nvSpPr>
          <p:cNvPr id="31" name="Shape 29"/>
          <p:cNvSpPr/>
          <p:nvPr/>
        </p:nvSpPr>
        <p:spPr>
          <a:xfrm>
            <a:off x="4434111" y="4192446"/>
            <a:ext cx="7770" cy="1939141"/>
          </a:xfrm>
          <a:prstGeom prst="rect">
            <a:avLst/>
          </a:prstGeom>
          <a:solidFill>
            <a:srgbClr val="000000">
              <a:alpha val="8000"/>
            </a:srgbClr>
          </a:solidFill>
          <a:ln/>
        </p:spPr>
      </p:sp>
      <p:sp>
        <p:nvSpPr>
          <p:cNvPr id="32" name="Text 30"/>
          <p:cNvSpPr/>
          <p:nvPr/>
        </p:nvSpPr>
        <p:spPr>
          <a:xfrm>
            <a:off x="640205" y="4263709"/>
            <a:ext cx="1433584" cy="183945"/>
          </a:xfrm>
          <a:prstGeom prst="rect">
            <a:avLst/>
          </a:prstGeom>
          <a:noFill/>
          <a:ln/>
        </p:spPr>
        <p:txBody>
          <a:bodyPr wrap="none" lIns="0" tIns="0" rIns="0" bIns="0" rtlCol="0" anchor="t"/>
          <a:lstStyle/>
          <a:p>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Method</a:t>
            </a:r>
            <a:endParaRPr lang="en-US" sz="950" dirty="0"/>
          </a:p>
        </p:txBody>
      </p:sp>
      <p:sp>
        <p:nvSpPr>
          <p:cNvPr id="33" name="Text 31"/>
          <p:cNvSpPr/>
          <p:nvPr/>
        </p:nvSpPr>
        <p:spPr>
          <a:xfrm>
            <a:off x="1948247" y="4263709"/>
            <a:ext cx="2737688" cy="183945"/>
          </a:xfrm>
          <a:prstGeom prst="rect">
            <a:avLst/>
          </a:prstGeom>
          <a:noFill/>
          <a:ln/>
        </p:spPr>
        <p:txBody>
          <a:bodyPr wrap="none" lIns="0" tIns="0" rIns="0" bIns="0" rtlCol="0" anchor="t"/>
          <a:lstStyle/>
          <a:p>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Endpoint</a:t>
            </a:r>
            <a:endParaRPr lang="en-US" sz="950" dirty="0"/>
          </a:p>
        </p:txBody>
      </p:sp>
      <p:sp>
        <p:nvSpPr>
          <p:cNvPr id="34" name="Text 32"/>
          <p:cNvSpPr/>
          <p:nvPr/>
        </p:nvSpPr>
        <p:spPr>
          <a:xfrm>
            <a:off x="4560392" y="4263709"/>
            <a:ext cx="2739657" cy="183945"/>
          </a:xfrm>
          <a:prstGeom prst="rect">
            <a:avLst/>
          </a:prstGeom>
          <a:noFill/>
          <a:ln/>
        </p:spPr>
        <p:txBody>
          <a:bodyPr wrap="none" lIns="0" tIns="0" rIns="0" bIns="0" rtlCol="0" anchor="t"/>
          <a:lstStyle/>
          <a:p>
            <a:pPr algn="l" indent="0" marL="0">
              <a:lnSpc>
                <a:spcPct val="123000"/>
              </a:lnSpc>
              <a:buNone/>
            </a:pPr>
            <a:r>
              <a:rPr lang="en-US" sz="950" b="1" dirty="0">
                <a:solidFill>
                  <a:srgbClr val="00002E"/>
                </a:solidFill>
                <a:latin typeface="PT Sans Bold" pitchFamily="34" charset="0"/>
                <a:ea typeface="PT Sans Bold" pitchFamily="34" charset="-122"/>
                <a:cs typeface="PT Sans Bold" pitchFamily="34" charset="-120"/>
              </a:rPr>
              <a:t>Purpose</a:t>
            </a:r>
            <a:endParaRPr lang="en-US" sz="950" dirty="0"/>
          </a:p>
        </p:txBody>
      </p:sp>
      <p:sp>
        <p:nvSpPr>
          <p:cNvPr id="35" name="Text 33"/>
          <p:cNvSpPr/>
          <p:nvPr/>
        </p:nvSpPr>
        <p:spPr>
          <a:xfrm>
            <a:off x="640205" y="4586243"/>
            <a:ext cx="1433584"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GET</a:t>
            </a:r>
            <a:endParaRPr lang="en-US" sz="950" dirty="0"/>
          </a:p>
        </p:txBody>
      </p:sp>
      <p:sp>
        <p:nvSpPr>
          <p:cNvPr id="36" name="Text 34"/>
          <p:cNvSpPr/>
          <p:nvPr/>
        </p:nvSpPr>
        <p:spPr>
          <a:xfrm>
            <a:off x="1948247" y="4586243"/>
            <a:ext cx="2737688"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/api/tasks</a:t>
            </a:r>
            <a:endParaRPr lang="en-US" sz="950" dirty="0"/>
          </a:p>
        </p:txBody>
      </p:sp>
      <p:sp>
        <p:nvSpPr>
          <p:cNvPr id="37" name="Text 35"/>
          <p:cNvSpPr/>
          <p:nvPr/>
        </p:nvSpPr>
        <p:spPr>
          <a:xfrm>
            <a:off x="4560392" y="4586243"/>
            <a:ext cx="2739657"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Get all tasks</a:t>
            </a:r>
            <a:endParaRPr lang="en-US" sz="950" dirty="0"/>
          </a:p>
        </p:txBody>
      </p:sp>
      <p:sp>
        <p:nvSpPr>
          <p:cNvPr id="38" name="Text 36"/>
          <p:cNvSpPr/>
          <p:nvPr/>
        </p:nvSpPr>
        <p:spPr>
          <a:xfrm>
            <a:off x="640205" y="4908777"/>
            <a:ext cx="1433584"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GET</a:t>
            </a:r>
            <a:endParaRPr lang="en-US" sz="950" dirty="0"/>
          </a:p>
        </p:txBody>
      </p:sp>
      <p:sp>
        <p:nvSpPr>
          <p:cNvPr id="39" name="Text 37"/>
          <p:cNvSpPr/>
          <p:nvPr/>
        </p:nvSpPr>
        <p:spPr>
          <a:xfrm>
            <a:off x="1948247" y="4908777"/>
            <a:ext cx="2737688"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/api/tasks/:id</a:t>
            </a:r>
            <a:endParaRPr lang="en-US" sz="950" dirty="0"/>
          </a:p>
        </p:txBody>
      </p:sp>
      <p:sp>
        <p:nvSpPr>
          <p:cNvPr id="40" name="Text 38"/>
          <p:cNvSpPr/>
          <p:nvPr/>
        </p:nvSpPr>
        <p:spPr>
          <a:xfrm>
            <a:off x="4560392" y="4908777"/>
            <a:ext cx="2739657"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Get task details</a:t>
            </a:r>
            <a:endParaRPr lang="en-US" sz="950" dirty="0"/>
          </a:p>
        </p:txBody>
      </p:sp>
      <p:sp>
        <p:nvSpPr>
          <p:cNvPr id="41" name="Text 39"/>
          <p:cNvSpPr/>
          <p:nvPr/>
        </p:nvSpPr>
        <p:spPr>
          <a:xfrm>
            <a:off x="640205" y="5231310"/>
            <a:ext cx="1433584"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POST</a:t>
            </a:r>
            <a:endParaRPr lang="en-US" sz="950" dirty="0"/>
          </a:p>
        </p:txBody>
      </p:sp>
      <p:sp>
        <p:nvSpPr>
          <p:cNvPr id="42" name="Text 40"/>
          <p:cNvSpPr/>
          <p:nvPr/>
        </p:nvSpPr>
        <p:spPr>
          <a:xfrm>
            <a:off x="1948247" y="5231310"/>
            <a:ext cx="2737688"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/api/tasks</a:t>
            </a:r>
            <a:endParaRPr lang="en-US" sz="950" dirty="0"/>
          </a:p>
        </p:txBody>
      </p:sp>
      <p:sp>
        <p:nvSpPr>
          <p:cNvPr id="43" name="Text 41"/>
          <p:cNvSpPr/>
          <p:nvPr/>
        </p:nvSpPr>
        <p:spPr>
          <a:xfrm>
            <a:off x="4560392" y="5231310"/>
            <a:ext cx="2739657"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Create task</a:t>
            </a:r>
            <a:endParaRPr lang="en-US" sz="950" dirty="0"/>
          </a:p>
        </p:txBody>
      </p:sp>
      <p:sp>
        <p:nvSpPr>
          <p:cNvPr id="44" name="Text 42"/>
          <p:cNvSpPr/>
          <p:nvPr/>
        </p:nvSpPr>
        <p:spPr>
          <a:xfrm>
            <a:off x="640205" y="5553844"/>
            <a:ext cx="1433584"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PUT</a:t>
            </a:r>
            <a:endParaRPr lang="en-US" sz="950" dirty="0"/>
          </a:p>
        </p:txBody>
      </p:sp>
      <p:sp>
        <p:nvSpPr>
          <p:cNvPr id="45" name="Text 43"/>
          <p:cNvSpPr/>
          <p:nvPr/>
        </p:nvSpPr>
        <p:spPr>
          <a:xfrm>
            <a:off x="1948247" y="5553844"/>
            <a:ext cx="2737688"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/api/tasks/:id</a:t>
            </a:r>
            <a:endParaRPr lang="en-US" sz="950" dirty="0"/>
          </a:p>
        </p:txBody>
      </p:sp>
      <p:sp>
        <p:nvSpPr>
          <p:cNvPr id="46" name="Text 44"/>
          <p:cNvSpPr/>
          <p:nvPr/>
        </p:nvSpPr>
        <p:spPr>
          <a:xfrm>
            <a:off x="4560392" y="5553844"/>
            <a:ext cx="2739657"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Update task</a:t>
            </a:r>
            <a:endParaRPr lang="en-US" sz="950" dirty="0"/>
          </a:p>
        </p:txBody>
      </p:sp>
      <p:sp>
        <p:nvSpPr>
          <p:cNvPr id="47" name="Text 45"/>
          <p:cNvSpPr/>
          <p:nvPr/>
        </p:nvSpPr>
        <p:spPr>
          <a:xfrm>
            <a:off x="640205" y="5876378"/>
            <a:ext cx="1433584"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DELETE</a:t>
            </a:r>
            <a:endParaRPr lang="en-US" sz="950" dirty="0"/>
          </a:p>
        </p:txBody>
      </p:sp>
      <p:sp>
        <p:nvSpPr>
          <p:cNvPr id="48" name="Text 46"/>
          <p:cNvSpPr/>
          <p:nvPr/>
        </p:nvSpPr>
        <p:spPr>
          <a:xfrm>
            <a:off x="1948247" y="5876378"/>
            <a:ext cx="2737688"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/api/tasks/:id</a:t>
            </a:r>
            <a:endParaRPr lang="en-US" sz="950" dirty="0"/>
          </a:p>
        </p:txBody>
      </p:sp>
      <p:sp>
        <p:nvSpPr>
          <p:cNvPr id="49" name="Text 47"/>
          <p:cNvSpPr/>
          <p:nvPr/>
        </p:nvSpPr>
        <p:spPr>
          <a:xfrm>
            <a:off x="4560392" y="5876378"/>
            <a:ext cx="2739657" cy="183945"/>
          </a:xfrm>
          <a:prstGeom prst="rect">
            <a:avLst/>
          </a:prstGeom>
          <a:noFill/>
          <a:ln/>
        </p:spPr>
        <p:txBody>
          <a:bodyPr wrap="none" lIns="0" tIns="0" rIns="0" bIns="0" rtlCol="0" anchor="t"/>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Delete task</a:t>
            </a:r>
            <a:endParaRPr lang="en-US" sz="950" dirty="0"/>
          </a:p>
        </p:txBody>
      </p:sp>
      <p:pic>
        <p:nvPicPr>
          <p:cNvPr id="50" name="Image 0" descr="preencoded.png">    </p:cNvPr>
          <p:cNvPicPr>
            <a:picLocks noChangeAspect="1"/>
          </p:cNvPicPr>
          <p:nvPr/>
        </p:nvPicPr>
        <p:blipFill>
          <a:blip r:embed="rId1"/>
          <a:stretch>
            <a:fillRect/>
          </a:stretch>
        </p:blipFill>
        <p:spPr>
          <a:xfrm>
            <a:off x="1091173" y="6250421"/>
            <a:ext cx="5379618" cy="2018651"/>
          </a:xfrm>
          <a:prstGeom prst="rect">
            <a:avLst/>
          </a:prstGeom>
        </p:spPr>
      </p:pic>
      <p:sp>
        <p:nvSpPr>
          <p:cNvPr id="51" name="Text 48"/>
          <p:cNvSpPr/>
          <p:nvPr/>
        </p:nvSpPr>
        <p:spPr>
          <a:xfrm>
            <a:off x="5437829" y="7783628"/>
            <a:ext cx="811395" cy="147013"/>
          </a:xfrm>
          <a:prstGeom prst="rect">
            <a:avLst/>
          </a:prstGeom>
          <a:noFill/>
          <a:ln/>
        </p:spPr>
        <p:txBody>
          <a:bodyPr wrap="none" lIns="0" tIns="0" rIns="0" bIns="0" rtlCol="0" anchor="t"/>
          <a:lstStyle/>
          <a:p>
            <a:pPr algn="ctr" indent="0" marL="0">
              <a:lnSpc>
                <a:spcPct val="104000"/>
              </a:lnSpc>
              <a:buNone/>
            </a:pPr>
            <a:r>
              <a:rPr lang="en-US" sz="900" dirty="0">
                <a:solidFill>
                  <a:srgbClr val="00002E"/>
                </a:solidFill>
                <a:latin typeface="Nunito SemiBold" pitchFamily="34" charset="0"/>
                <a:ea typeface="Nunito SemiBold" pitchFamily="34" charset="-122"/>
                <a:cs typeface="Nunito SemiBold" pitchFamily="34" charset="-120"/>
              </a:rPr>
              <a:t>MongoDB</a:t>
            </a:r>
            <a:endParaRPr lang="en-US" sz="900" dirty="0"/>
          </a:p>
        </p:txBody>
      </p:sp>
      <p:sp>
        <p:nvSpPr>
          <p:cNvPr id="52" name="Text 49"/>
          <p:cNvSpPr/>
          <p:nvPr/>
        </p:nvSpPr>
        <p:spPr>
          <a:xfrm>
            <a:off x="4415249" y="7783628"/>
            <a:ext cx="811395" cy="147013"/>
          </a:xfrm>
          <a:prstGeom prst="rect">
            <a:avLst/>
          </a:prstGeom>
          <a:noFill/>
          <a:ln/>
        </p:spPr>
        <p:txBody>
          <a:bodyPr wrap="none" lIns="0" tIns="0" rIns="0" bIns="0" rtlCol="0" anchor="t"/>
          <a:lstStyle/>
          <a:p>
            <a:pPr algn="ctr" indent="0" marL="0">
              <a:lnSpc>
                <a:spcPct val="104000"/>
              </a:lnSpc>
              <a:buNone/>
            </a:pPr>
            <a:r>
              <a:rPr lang="en-US" sz="900" dirty="0">
                <a:solidFill>
                  <a:srgbClr val="00002E"/>
                </a:solidFill>
                <a:latin typeface="Nunito SemiBold" pitchFamily="34" charset="0"/>
                <a:ea typeface="Nunito SemiBold" pitchFamily="34" charset="-122"/>
                <a:cs typeface="Nunito SemiBold" pitchFamily="34" charset="-120"/>
              </a:rPr>
              <a:t>Controller</a:t>
            </a:r>
            <a:endParaRPr lang="en-US" sz="900" dirty="0"/>
          </a:p>
        </p:txBody>
      </p:sp>
      <p:sp>
        <p:nvSpPr>
          <p:cNvPr id="53" name="Text 50"/>
          <p:cNvSpPr/>
          <p:nvPr/>
        </p:nvSpPr>
        <p:spPr>
          <a:xfrm>
            <a:off x="3398226" y="7783628"/>
            <a:ext cx="811395" cy="147013"/>
          </a:xfrm>
          <a:prstGeom prst="rect">
            <a:avLst/>
          </a:prstGeom>
          <a:noFill/>
          <a:ln/>
        </p:spPr>
        <p:txBody>
          <a:bodyPr wrap="none" lIns="0" tIns="0" rIns="0" bIns="0" rtlCol="0" anchor="t"/>
          <a:lstStyle/>
          <a:p>
            <a:pPr algn="ctr" indent="0" marL="0">
              <a:lnSpc>
                <a:spcPct val="104000"/>
              </a:lnSpc>
              <a:buNone/>
            </a:pPr>
            <a:r>
              <a:rPr lang="en-US" sz="900" dirty="0">
                <a:solidFill>
                  <a:srgbClr val="00002E"/>
                </a:solidFill>
                <a:latin typeface="Nunito SemiBold" pitchFamily="34" charset="0"/>
                <a:ea typeface="Nunito SemiBold" pitchFamily="34" charset="-122"/>
                <a:cs typeface="Nunito SemiBold" pitchFamily="34" charset="-120"/>
              </a:rPr>
              <a:t>Express Route</a:t>
            </a:r>
            <a:endParaRPr lang="en-US" sz="900" dirty="0"/>
          </a:p>
        </p:txBody>
      </p:sp>
      <p:sp>
        <p:nvSpPr>
          <p:cNvPr id="54" name="Text 51"/>
          <p:cNvSpPr/>
          <p:nvPr/>
        </p:nvSpPr>
        <p:spPr>
          <a:xfrm>
            <a:off x="2381204" y="7783628"/>
            <a:ext cx="811395" cy="147013"/>
          </a:xfrm>
          <a:prstGeom prst="rect">
            <a:avLst/>
          </a:prstGeom>
          <a:noFill/>
          <a:ln/>
        </p:spPr>
        <p:txBody>
          <a:bodyPr wrap="none" lIns="0" tIns="0" rIns="0" bIns="0" rtlCol="0" anchor="t"/>
          <a:lstStyle/>
          <a:p>
            <a:pPr algn="ctr" indent="0" marL="0">
              <a:lnSpc>
                <a:spcPct val="104000"/>
              </a:lnSpc>
              <a:buNone/>
            </a:pPr>
            <a:r>
              <a:rPr lang="en-US" sz="900" dirty="0">
                <a:solidFill>
                  <a:srgbClr val="00002E"/>
                </a:solidFill>
                <a:latin typeface="Nunito SemiBold" pitchFamily="34" charset="0"/>
                <a:ea typeface="Nunito SemiBold" pitchFamily="34" charset="-122"/>
                <a:cs typeface="Nunito SemiBold" pitchFamily="34" charset="-120"/>
              </a:rPr>
              <a:t>Axios Request</a:t>
            </a:r>
            <a:endParaRPr lang="en-US" sz="900" dirty="0"/>
          </a:p>
        </p:txBody>
      </p:sp>
      <p:sp>
        <p:nvSpPr>
          <p:cNvPr id="55" name="Text 52"/>
          <p:cNvSpPr/>
          <p:nvPr/>
        </p:nvSpPr>
        <p:spPr>
          <a:xfrm>
            <a:off x="1341952" y="7783628"/>
            <a:ext cx="811395" cy="147013"/>
          </a:xfrm>
          <a:prstGeom prst="rect">
            <a:avLst/>
          </a:prstGeom>
          <a:noFill/>
          <a:ln/>
        </p:spPr>
        <p:txBody>
          <a:bodyPr wrap="none" lIns="0" tIns="0" rIns="0" bIns="0" rtlCol="0" anchor="t"/>
          <a:lstStyle/>
          <a:p>
            <a:pPr algn="ctr" indent="0" marL="0">
              <a:lnSpc>
                <a:spcPct val="104000"/>
              </a:lnSpc>
              <a:buNone/>
            </a:pPr>
            <a:r>
              <a:rPr lang="en-US" sz="900" dirty="0">
                <a:solidFill>
                  <a:srgbClr val="00002E"/>
                </a:solidFill>
                <a:latin typeface="Nunito SemiBold" pitchFamily="34" charset="0"/>
                <a:ea typeface="Nunito SemiBold" pitchFamily="34" charset="-122"/>
                <a:cs typeface="Nunito SemiBold" pitchFamily="34" charset="-120"/>
              </a:rPr>
              <a:t>React UI</a:t>
            </a:r>
            <a:endParaRPr lang="en-US" sz="900" dirty="0"/>
          </a:p>
        </p:txBody>
      </p:sp>
      <p:sp>
        <p:nvSpPr>
          <p:cNvPr id="56" name="Text 53"/>
          <p:cNvSpPr/>
          <p:nvPr/>
        </p:nvSpPr>
        <p:spPr>
          <a:xfrm>
            <a:off x="511832" y="8387907"/>
            <a:ext cx="6538363" cy="1103667"/>
          </a:xfrm>
          <a:prstGeom prst="rect">
            <a:avLst/>
          </a:prstGeom>
          <a:noFill/>
          <a:ln/>
        </p:spPr>
        <p:txBody>
          <a:bodyPr wrap="square" lIns="0" tIns="0" rIns="0" bIns="0" rtlCol="0" anchor="t">
            <a:normAutofit/>
          </a:bodyPr>
          <a:lstStyle/>
          <a:p>
            <a:pPr algn="l" indent="0" marL="0">
              <a:lnSpc>
                <a:spcPct val="123000"/>
              </a:lnSpc>
              <a:buNone/>
            </a:pPr>
            <a:r>
              <a:rPr lang="en-US" sz="950" dirty="0">
                <a:solidFill>
                  <a:srgbClr val="00002E"/>
                </a:solidFill>
                <a:latin typeface="PT Sans" pitchFamily="34" charset="0"/>
                <a:ea typeface="PT Sans" pitchFamily="34" charset="-122"/>
                <a:cs typeface="PT Sans" pitchFamily="34" charset="-120"/>
              </a:rPr>
              <a:t>The example API flow illustrates the complete request-response cycle. When a user performs an action in the React UI — such as creating a new task — Axios sends an HTTP request to the appropriate Express route. The route handler passes the request to a controller, which contains the business logic. The controller interacts with MongoDB to read or write data, then returns a JSON response. Axios receives this response and updates the React UI accordingly, providing immediate feedback to the user. This clean separation of concerns ensures that the frontend remains decoupled from the backend, making the application easier to test, maintain, and extend.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11832" y="402167"/>
            <a:ext cx="6538363" cy="387151"/>
          </a:xfrm>
          <a:prstGeom prst="rect">
            <a:avLst/>
          </a:prstGeom>
          <a:noFill/>
          <a:ln/>
        </p:spPr>
        <p:txBody>
          <a:bodyPr wrap="none" lIns="0" tIns="0" rIns="0" bIns="0" rtlCol="0" anchor="t"/>
          <a:lstStyle/>
          <a:p>
            <a:pPr algn="l" indent="0" marL="0">
              <a:lnSpc>
                <a:spcPct val="104000"/>
              </a:lnSpc>
              <a:buNone/>
            </a:pPr>
            <a:r>
              <a:rPr lang="en-US" sz="2400" dirty="0">
                <a:solidFill>
                  <a:srgbClr val="00002E"/>
                </a:solidFill>
                <a:latin typeface="Nunito SemiBold" pitchFamily="34" charset="0"/>
                <a:ea typeface="Nunito SemiBold" pitchFamily="34" charset="-122"/>
                <a:cs typeface="Nunito SemiBold" pitchFamily="34" charset="-120"/>
              </a:rPr>
              <a:t>Design Rationale</a:t>
            </a:r>
            <a:endParaRPr lang="en-US" sz="2400" dirty="0"/>
          </a:p>
        </p:txBody>
      </p:sp>
      <p:sp>
        <p:nvSpPr>
          <p:cNvPr id="3" name="Text 1"/>
          <p:cNvSpPr/>
          <p:nvPr/>
        </p:nvSpPr>
        <p:spPr>
          <a:xfrm>
            <a:off x="511832" y="1026188"/>
            <a:ext cx="6538363" cy="800272"/>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The Smart Task Manager was selected because task management is a common real-world problem. It demonstrates essential full-stack development concepts — including authentication, CRUD operations, API development, database management, and responsive UI design — while remaining manageable within the project timeline. The following sections explain the rationale behind each technology choice and the overall three-tier architecture.</a:t>
            </a:r>
            <a:endParaRPr lang="en-US" sz="10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1832" y="1959695"/>
            <a:ext cx="2100498" cy="3960376"/>
          </a:xfrm>
          <a:prstGeom prst="rect">
            <a:avLst/>
          </a:prstGeom>
        </p:spPr>
      </p:pic>
      <p:sp>
        <p:nvSpPr>
          <p:cNvPr id="5" name="Text 2"/>
          <p:cNvSpPr/>
          <p:nvPr/>
        </p:nvSpPr>
        <p:spPr>
          <a:xfrm>
            <a:off x="722177" y="2107023"/>
            <a:ext cx="1742825" cy="193545"/>
          </a:xfrm>
          <a:prstGeom prst="rect">
            <a:avLst/>
          </a:prstGeom>
          <a:noFill/>
          <a:ln/>
        </p:spPr>
        <p:txBody>
          <a:bodyPr wrap="none" lIns="0" tIns="0" rIns="0" bIns="0" rtlCol="0" anchor="t"/>
          <a:lstStyle/>
          <a:p>
            <a:pPr algn="l" indent="0" marL="0">
              <a:lnSpc>
                <a:spcPct val="104000"/>
              </a:lnSpc>
              <a:buNone/>
            </a:pPr>
            <a:r>
              <a:rPr lang="en-US" sz="1200" dirty="0">
                <a:solidFill>
                  <a:srgbClr val="00002E"/>
                </a:solidFill>
                <a:latin typeface="Nunito SemiBold" pitchFamily="34" charset="0"/>
                <a:ea typeface="Nunito SemiBold" pitchFamily="34" charset="-122"/>
                <a:cs typeface="Nunito SemiBold" pitchFamily="34" charset="-120"/>
              </a:rPr>
              <a:t>Why React?</a:t>
            </a:r>
            <a:endParaRPr lang="en-US" sz="1200" dirty="0"/>
          </a:p>
        </p:txBody>
      </p:sp>
      <p:sp>
        <p:nvSpPr>
          <p:cNvPr id="6" name="Text 3"/>
          <p:cNvSpPr/>
          <p:nvPr/>
        </p:nvSpPr>
        <p:spPr>
          <a:xfrm>
            <a:off x="722177" y="2371586"/>
            <a:ext cx="1742825" cy="3401158"/>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React enables the development of reusable UI components, efficient state management, and fast rendering through its virtual DOM. It is widely adopted in modern web development and simplifies building responsive user interfaces. React's component-based architecture aligns well with the modular design goals of the Smart Task Manager, allowing individual UI elements — such as task cards, forms, and the dashboard — to be developed and tested independently.</a:t>
            </a:r>
            <a:endParaRPr lang="en-US" sz="10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30733" y="1959695"/>
            <a:ext cx="2100498" cy="3960376"/>
          </a:xfrm>
          <a:prstGeom prst="rect">
            <a:avLst/>
          </a:prstGeom>
        </p:spPr>
      </p:pic>
      <p:sp>
        <p:nvSpPr>
          <p:cNvPr id="8" name="Text 4"/>
          <p:cNvSpPr/>
          <p:nvPr/>
        </p:nvSpPr>
        <p:spPr>
          <a:xfrm>
            <a:off x="2941079" y="2107023"/>
            <a:ext cx="1742825" cy="193545"/>
          </a:xfrm>
          <a:prstGeom prst="rect">
            <a:avLst/>
          </a:prstGeom>
          <a:noFill/>
          <a:ln/>
        </p:spPr>
        <p:txBody>
          <a:bodyPr wrap="none" lIns="0" tIns="0" rIns="0" bIns="0" rtlCol="0" anchor="t"/>
          <a:lstStyle/>
          <a:p>
            <a:pPr algn="l" indent="0" marL="0">
              <a:lnSpc>
                <a:spcPct val="104000"/>
              </a:lnSpc>
              <a:buNone/>
            </a:pPr>
            <a:r>
              <a:rPr lang="en-US" sz="1200" dirty="0">
                <a:solidFill>
                  <a:srgbClr val="00002E"/>
                </a:solidFill>
                <a:latin typeface="Nunito SemiBold" pitchFamily="34" charset="0"/>
                <a:ea typeface="Nunito SemiBold" pitchFamily="34" charset="-122"/>
                <a:cs typeface="Nunito SemiBold" pitchFamily="34" charset="-120"/>
              </a:rPr>
              <a:t>Why Node.js &amp; Express?</a:t>
            </a:r>
            <a:endParaRPr lang="en-US" sz="1200" dirty="0"/>
          </a:p>
        </p:txBody>
      </p:sp>
      <p:sp>
        <p:nvSpPr>
          <p:cNvPr id="9" name="Text 5"/>
          <p:cNvSpPr/>
          <p:nvPr/>
        </p:nvSpPr>
        <p:spPr>
          <a:xfrm>
            <a:off x="2941079" y="2371586"/>
            <a:ext cx="1742825" cy="3201090"/>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Node.js provides a high-performance JavaScript runtime, while Express.js offers a lightweight framework for building RESTful APIs. Together, they enable efficient communication between the frontend and backend with a unified JavaScript stack. Using JavaScript across both layers reduces context switching for developers and simplifies the overall technology stack, making the project more approachable for learning full-stack development.</a:t>
            </a:r>
            <a:endParaRPr lang="en-US" sz="10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49635" y="1959695"/>
            <a:ext cx="2100559" cy="3960376"/>
          </a:xfrm>
          <a:prstGeom prst="rect">
            <a:avLst/>
          </a:prstGeom>
        </p:spPr>
      </p:pic>
      <p:sp>
        <p:nvSpPr>
          <p:cNvPr id="11" name="Text 6"/>
          <p:cNvSpPr/>
          <p:nvPr/>
        </p:nvSpPr>
        <p:spPr>
          <a:xfrm>
            <a:off x="5159980" y="2107023"/>
            <a:ext cx="1742887" cy="193545"/>
          </a:xfrm>
          <a:prstGeom prst="rect">
            <a:avLst/>
          </a:prstGeom>
          <a:noFill/>
          <a:ln/>
        </p:spPr>
        <p:txBody>
          <a:bodyPr wrap="none" lIns="0" tIns="0" rIns="0" bIns="0" rtlCol="0" anchor="t"/>
          <a:lstStyle/>
          <a:p>
            <a:pPr algn="l" indent="0" marL="0">
              <a:lnSpc>
                <a:spcPct val="104000"/>
              </a:lnSpc>
              <a:buNone/>
            </a:pPr>
            <a:r>
              <a:rPr lang="en-US" sz="1200" dirty="0">
                <a:solidFill>
                  <a:srgbClr val="00002E"/>
                </a:solidFill>
                <a:latin typeface="Nunito SemiBold" pitchFamily="34" charset="0"/>
                <a:ea typeface="Nunito SemiBold" pitchFamily="34" charset="-122"/>
                <a:cs typeface="Nunito SemiBold" pitchFamily="34" charset="-120"/>
              </a:rPr>
              <a:t>Why MongoDB?</a:t>
            </a:r>
            <a:endParaRPr lang="en-US" sz="1200" dirty="0"/>
          </a:p>
        </p:txBody>
      </p:sp>
      <p:sp>
        <p:nvSpPr>
          <p:cNvPr id="12" name="Text 7"/>
          <p:cNvSpPr/>
          <p:nvPr/>
        </p:nvSpPr>
        <p:spPr>
          <a:xfrm>
            <a:off x="5159980" y="2371586"/>
            <a:ext cx="1742887" cy="3001022"/>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MongoDB is a NoSQL database that stores data in flexible JSON-like documents. It integrates well with Node.js and is suitable for applications where the data structure may evolve over time, making development faster and more adaptable. The document-based model maps naturally to JavaScript objects, reducing the need for complex data transformation between the application and database layers.</a:t>
            </a:r>
            <a:endParaRPr lang="en-US" sz="10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1832" y="6038475"/>
            <a:ext cx="2100498" cy="3760308"/>
          </a:xfrm>
          <a:prstGeom prst="rect">
            <a:avLst/>
          </a:prstGeom>
        </p:spPr>
      </p:pic>
      <p:sp>
        <p:nvSpPr>
          <p:cNvPr id="14" name="Text 8"/>
          <p:cNvSpPr/>
          <p:nvPr/>
        </p:nvSpPr>
        <p:spPr>
          <a:xfrm>
            <a:off x="722177" y="6185803"/>
            <a:ext cx="1742825" cy="38709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2E"/>
                </a:solidFill>
                <a:latin typeface="Nunito SemiBold" pitchFamily="34" charset="0"/>
                <a:ea typeface="Nunito SemiBold" pitchFamily="34" charset="-122"/>
                <a:cs typeface="Nunito SemiBold" pitchFamily="34" charset="-120"/>
              </a:rPr>
              <a:t>Why JWT Authentication?</a:t>
            </a:r>
            <a:endParaRPr lang="en-US" sz="1200" dirty="0"/>
          </a:p>
        </p:txBody>
      </p:sp>
      <p:sp>
        <p:nvSpPr>
          <p:cNvPr id="15" name="Text 9"/>
          <p:cNvSpPr/>
          <p:nvPr/>
        </p:nvSpPr>
        <p:spPr>
          <a:xfrm>
            <a:off x="722177" y="6643911"/>
            <a:ext cx="1742825" cy="3001022"/>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JWT (JSON Web Token) enables secure, stateless authentication between the client and server. It reduces server-side session management and is widely used in modern web applications. Because JWT tokens are self-contained and can be verified without querying the database on each request, they improve API performance while maintaining security through cryptographic signing.</a:t>
            </a:r>
            <a:endParaRPr lang="en-US" sz="100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30733" y="6038475"/>
            <a:ext cx="2100498" cy="3760308"/>
          </a:xfrm>
          <a:prstGeom prst="rect">
            <a:avLst/>
          </a:prstGeom>
        </p:spPr>
      </p:pic>
      <p:sp>
        <p:nvSpPr>
          <p:cNvPr id="17" name="Text 10"/>
          <p:cNvSpPr/>
          <p:nvPr/>
        </p:nvSpPr>
        <p:spPr>
          <a:xfrm>
            <a:off x="2941079" y="6185803"/>
            <a:ext cx="1742825" cy="193545"/>
          </a:xfrm>
          <a:prstGeom prst="rect">
            <a:avLst/>
          </a:prstGeom>
          <a:noFill/>
          <a:ln/>
        </p:spPr>
        <p:txBody>
          <a:bodyPr wrap="none" lIns="0" tIns="0" rIns="0" bIns="0" rtlCol="0" anchor="t"/>
          <a:lstStyle/>
          <a:p>
            <a:pPr algn="l" indent="0" marL="0">
              <a:lnSpc>
                <a:spcPct val="104000"/>
              </a:lnSpc>
              <a:buNone/>
            </a:pPr>
            <a:r>
              <a:rPr lang="en-US" sz="1200" dirty="0">
                <a:solidFill>
                  <a:srgbClr val="00002E"/>
                </a:solidFill>
                <a:latin typeface="Nunito SemiBold" pitchFamily="34" charset="0"/>
                <a:ea typeface="Nunito SemiBold" pitchFamily="34" charset="-122"/>
                <a:cs typeface="Nunito SemiBold" pitchFamily="34" charset="-120"/>
              </a:rPr>
              <a:t>Overall Architecture</a:t>
            </a:r>
            <a:endParaRPr lang="en-US" sz="1200" dirty="0"/>
          </a:p>
        </p:txBody>
      </p:sp>
      <p:sp>
        <p:nvSpPr>
          <p:cNvPr id="18" name="Text 11"/>
          <p:cNvSpPr/>
          <p:nvPr/>
        </p:nvSpPr>
        <p:spPr>
          <a:xfrm>
            <a:off x="2941079" y="6450366"/>
            <a:ext cx="1742825" cy="3201090"/>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00002E"/>
                </a:solidFill>
                <a:latin typeface="PT Sans" pitchFamily="34" charset="0"/>
                <a:ea typeface="PT Sans" pitchFamily="34" charset="-122"/>
                <a:cs typeface="PT Sans" pitchFamily="34" charset="-120"/>
              </a:rPr>
              <a:t>A three-tier architecture — Presentation Layer, Application Layer, and Data Layer — was chosen to ensure modularity, scalability, and maintainability. Separating the frontend, backend, and database allows each layer to be developed, tested, and updated independently, supporting future enhancements. This separation of concerns also makes the codebase easier to understand and extend as new features are added to the application.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11832" y="402167"/>
            <a:ext cx="6538363" cy="430168"/>
          </a:xfrm>
          <a:prstGeom prst="rect">
            <a:avLst/>
          </a:prstGeom>
          <a:noFill/>
          <a:ln/>
        </p:spPr>
        <p:txBody>
          <a:bodyPr wrap="none" lIns="0" tIns="0" rIns="0" bIns="0" rtlCol="0" anchor="t"/>
          <a:lstStyle/>
          <a:p>
            <a:pPr algn="l" indent="0" marL="0">
              <a:lnSpc>
                <a:spcPct val="104000"/>
              </a:lnSpc>
              <a:buNone/>
            </a:pPr>
            <a:r>
              <a:rPr lang="en-US" sz="2700" dirty="0">
                <a:solidFill>
                  <a:srgbClr val="00002E"/>
                </a:solidFill>
                <a:latin typeface="Nunito SemiBold" pitchFamily="34" charset="0"/>
                <a:ea typeface="Nunito SemiBold" pitchFamily="34" charset="-122"/>
                <a:cs typeface="Nunito SemiBold" pitchFamily="34" charset="-120"/>
              </a:rPr>
              <a:t>Conclusion</a:t>
            </a:r>
            <a:endParaRPr lang="en-US" sz="2700" dirty="0"/>
          </a:p>
        </p:txBody>
      </p:sp>
      <p:sp>
        <p:nvSpPr>
          <p:cNvPr id="3" name="Text 1"/>
          <p:cNvSpPr/>
          <p:nvPr/>
        </p:nvSpPr>
        <p:spPr>
          <a:xfrm>
            <a:off x="511832" y="1124837"/>
            <a:ext cx="6538363" cy="2738921"/>
          </a:xfrm>
          <a:prstGeom prst="rect">
            <a:avLst/>
          </a:prstGeom>
          <a:noFill/>
          <a:ln/>
        </p:spPr>
        <p:txBody>
          <a:bodyPr wrap="square" lIns="0" tIns="0" rIns="0" bIns="0" rtlCol="0" anchor="t">
            <a:normAutofit/>
          </a:bodyPr>
          <a:lstStyle/>
          <a:p>
            <a:pPr algn="l" indent="0" marL="0">
              <a:lnSpc>
                <a:spcPct val="133000"/>
              </a:lnSpc>
              <a:spcAft>
                <a:spcPts val="1250"/>
              </a:spcAft>
              <a:buNone/>
            </a:pPr>
            <a:r>
              <a:rPr lang="en-US" sz="1150" dirty="0">
                <a:solidFill>
                  <a:srgbClr val="00002E"/>
                </a:solidFill>
                <a:latin typeface="PT Sans" pitchFamily="34" charset="0"/>
                <a:ea typeface="PT Sans" pitchFamily="34" charset="-122"/>
                <a:cs typeface="PT Sans" pitchFamily="34" charset="-120"/>
              </a:rPr>
              <a:t>The Smart Task Manager project provides a comprehensive foundation for learning full-stack web development. The planning phase establishes clear objectives, system architecture, database design, API specifications, and user interface concepts that will guide the implementation in the following weeks. By following a modular architecture and industry-standard technologies, the application is designed to be secure, scalable, maintainable, and user-friendly.</a:t>
            </a:r>
            <a:endParaRPr lang="en-US" sz="1150" dirty="0"/>
          </a:p>
          <a:p>
            <a:pPr algn="l" indent="0" marL="0">
              <a:lnSpc>
                <a:spcPct val="133000"/>
              </a:lnSpc>
              <a:buNone/>
            </a:pPr>
            <a:r>
              <a:rPr lang="en-US" sz="1150" dirty="0">
                <a:solidFill>
                  <a:srgbClr val="00002E"/>
                </a:solidFill>
                <a:latin typeface="PT Sans" pitchFamily="34" charset="0"/>
                <a:ea typeface="PT Sans" pitchFamily="34" charset="-122"/>
                <a:cs typeface="PT Sans" pitchFamily="34" charset="-120"/>
              </a:rPr>
              <a:t>The project addresses a real-world problem — helping individuals organize their daily work and avoid forgotten deadlines — while demonstrating the essential concepts of modern web application development. The three-tier architecture, RESTful API design, JWT-based authentication, MongoDB schema, and React frontend work together to create a cohesive system that is both functional and educational. Each design decision, from the choice of bcrypt for password hashing to the use of Tailwind CSS for responsive styling, reflects a commitment to industry best practices.</a:t>
            </a:r>
            <a:endParaRPr lang="en-US" sz="1150" dirty="0"/>
          </a:p>
        </p:txBody>
      </p:sp>
      <p:sp>
        <p:nvSpPr>
          <p:cNvPr id="4" name="Shape 2"/>
          <p:cNvSpPr/>
          <p:nvPr/>
        </p:nvSpPr>
        <p:spPr>
          <a:xfrm>
            <a:off x="511832" y="4028255"/>
            <a:ext cx="3196041" cy="1328844"/>
          </a:xfrm>
          <a:prstGeom prst="roundRect">
            <a:avLst>
              <a:gd name="adj" fmla="val 16509"/>
            </a:avLst>
          </a:prstGeom>
          <a:solidFill>
            <a:srgbClr val="F3F3FF"/>
          </a:solidFill>
          <a:ln w="15754">
            <a:solidFill>
              <a:srgbClr val="2D4DF2"/>
            </a:solidFill>
            <a:prstDash val="solid"/>
          </a:ln>
        </p:spPr>
      </p:sp>
      <p:sp>
        <p:nvSpPr>
          <p:cNvPr id="5" name="Text 3"/>
          <p:cNvSpPr/>
          <p:nvPr/>
        </p:nvSpPr>
        <p:spPr>
          <a:xfrm>
            <a:off x="673806" y="4190230"/>
            <a:ext cx="2872092" cy="215084"/>
          </a:xfrm>
          <a:prstGeom prst="rect">
            <a:avLst/>
          </a:prstGeom>
          <a:noFill/>
          <a:ln/>
        </p:spPr>
        <p:txBody>
          <a:bodyPr wrap="none" lIns="0" tIns="0" rIns="0" bIns="0" rtlCol="0" anchor="t"/>
          <a:lstStyle/>
          <a:p>
            <a:pPr algn="l" indent="0" marL="0">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Secure</a:t>
            </a:r>
            <a:endParaRPr lang="en-US" sz="1350" dirty="0"/>
          </a:p>
        </p:txBody>
      </p:sp>
      <p:sp>
        <p:nvSpPr>
          <p:cNvPr id="6" name="Text 4"/>
          <p:cNvSpPr/>
          <p:nvPr/>
        </p:nvSpPr>
        <p:spPr>
          <a:xfrm>
            <a:off x="673806" y="4493009"/>
            <a:ext cx="2872092" cy="702115"/>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2E"/>
                </a:solidFill>
                <a:latin typeface="PT Sans" pitchFamily="34" charset="0"/>
                <a:ea typeface="PT Sans" pitchFamily="34" charset="-122"/>
                <a:cs typeface="PT Sans" pitchFamily="34" charset="-120"/>
              </a:rPr>
              <a:t>JWT authentication and bcrypt password hashing protect user data at every layer of the application.</a:t>
            </a:r>
            <a:endParaRPr lang="en-US" sz="1150" dirty="0"/>
          </a:p>
        </p:txBody>
      </p:sp>
      <p:sp>
        <p:nvSpPr>
          <p:cNvPr id="7" name="Shape 5"/>
          <p:cNvSpPr/>
          <p:nvPr/>
        </p:nvSpPr>
        <p:spPr>
          <a:xfrm>
            <a:off x="3854092" y="4028255"/>
            <a:ext cx="3196102" cy="1328844"/>
          </a:xfrm>
          <a:prstGeom prst="roundRect">
            <a:avLst>
              <a:gd name="adj" fmla="val 16509"/>
            </a:avLst>
          </a:prstGeom>
          <a:solidFill>
            <a:srgbClr val="F3F3FF"/>
          </a:solidFill>
          <a:ln w="15754">
            <a:solidFill>
              <a:srgbClr val="018CE1"/>
            </a:solidFill>
            <a:prstDash val="solid"/>
          </a:ln>
        </p:spPr>
      </p:sp>
      <p:sp>
        <p:nvSpPr>
          <p:cNvPr id="8" name="Text 6"/>
          <p:cNvSpPr/>
          <p:nvPr/>
        </p:nvSpPr>
        <p:spPr>
          <a:xfrm>
            <a:off x="4016067" y="4190230"/>
            <a:ext cx="2872153" cy="215084"/>
          </a:xfrm>
          <a:prstGeom prst="rect">
            <a:avLst/>
          </a:prstGeom>
          <a:noFill/>
          <a:ln/>
        </p:spPr>
        <p:txBody>
          <a:bodyPr wrap="none" lIns="0" tIns="0" rIns="0" bIns="0" rtlCol="0" anchor="t"/>
          <a:lstStyle/>
          <a:p>
            <a:pPr algn="l" indent="0" marL="0">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Scalable</a:t>
            </a:r>
            <a:endParaRPr lang="en-US" sz="1350" dirty="0"/>
          </a:p>
        </p:txBody>
      </p:sp>
      <p:sp>
        <p:nvSpPr>
          <p:cNvPr id="9" name="Text 7"/>
          <p:cNvSpPr/>
          <p:nvPr/>
        </p:nvSpPr>
        <p:spPr>
          <a:xfrm>
            <a:off x="4016067" y="4493009"/>
            <a:ext cx="2872153" cy="702115"/>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2E"/>
                </a:solidFill>
                <a:latin typeface="PT Sans" pitchFamily="34" charset="0"/>
                <a:ea typeface="PT Sans" pitchFamily="34" charset="-122"/>
                <a:cs typeface="PT Sans" pitchFamily="34" charset="-120"/>
              </a:rPr>
              <a:t>Modular three-tier architecture and RESTful APIs support easy feature expansion and independent layer updates.</a:t>
            </a:r>
            <a:endParaRPr lang="en-US" sz="1150" dirty="0"/>
          </a:p>
        </p:txBody>
      </p:sp>
      <p:sp>
        <p:nvSpPr>
          <p:cNvPr id="10" name="Shape 8"/>
          <p:cNvSpPr/>
          <p:nvPr/>
        </p:nvSpPr>
        <p:spPr>
          <a:xfrm>
            <a:off x="511832" y="5503319"/>
            <a:ext cx="3196041" cy="1328844"/>
          </a:xfrm>
          <a:prstGeom prst="roundRect">
            <a:avLst>
              <a:gd name="adj" fmla="val 16509"/>
            </a:avLst>
          </a:prstGeom>
          <a:solidFill>
            <a:srgbClr val="F3F3FF"/>
          </a:solidFill>
          <a:ln w="15754">
            <a:solidFill>
              <a:srgbClr val="DA33BF"/>
            </a:solidFill>
            <a:prstDash val="solid"/>
          </a:ln>
        </p:spPr>
      </p:sp>
      <p:sp>
        <p:nvSpPr>
          <p:cNvPr id="11" name="Text 9"/>
          <p:cNvSpPr/>
          <p:nvPr/>
        </p:nvSpPr>
        <p:spPr>
          <a:xfrm>
            <a:off x="673806" y="5665294"/>
            <a:ext cx="2872092" cy="215084"/>
          </a:xfrm>
          <a:prstGeom prst="rect">
            <a:avLst/>
          </a:prstGeom>
          <a:noFill/>
          <a:ln/>
        </p:spPr>
        <p:txBody>
          <a:bodyPr wrap="none" lIns="0" tIns="0" rIns="0" bIns="0" rtlCol="0" anchor="t"/>
          <a:lstStyle/>
          <a:p>
            <a:pPr algn="l" indent="0" marL="0">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Maintainable</a:t>
            </a:r>
            <a:endParaRPr lang="en-US" sz="1350" dirty="0"/>
          </a:p>
        </p:txBody>
      </p:sp>
      <p:sp>
        <p:nvSpPr>
          <p:cNvPr id="12" name="Text 10"/>
          <p:cNvSpPr/>
          <p:nvPr/>
        </p:nvSpPr>
        <p:spPr>
          <a:xfrm>
            <a:off x="673806" y="5968073"/>
            <a:ext cx="2872092" cy="702115"/>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2E"/>
                </a:solidFill>
                <a:latin typeface="PT Sans" pitchFamily="34" charset="0"/>
                <a:ea typeface="PT Sans" pitchFamily="34" charset="-122"/>
                <a:cs typeface="PT Sans" pitchFamily="34" charset="-120"/>
              </a:rPr>
              <a:t>Clear separation of concerns across frontend, backend, and database layers simplifies testing and future development.</a:t>
            </a:r>
            <a:endParaRPr lang="en-US" sz="1150" dirty="0"/>
          </a:p>
        </p:txBody>
      </p:sp>
      <p:sp>
        <p:nvSpPr>
          <p:cNvPr id="13" name="Shape 11"/>
          <p:cNvSpPr/>
          <p:nvPr/>
        </p:nvSpPr>
        <p:spPr>
          <a:xfrm>
            <a:off x="3854092" y="5503319"/>
            <a:ext cx="3196102" cy="1328844"/>
          </a:xfrm>
          <a:prstGeom prst="roundRect">
            <a:avLst>
              <a:gd name="adj" fmla="val 16509"/>
            </a:avLst>
          </a:prstGeom>
          <a:solidFill>
            <a:srgbClr val="F3F3FF"/>
          </a:solidFill>
          <a:ln w="15754">
            <a:solidFill>
              <a:srgbClr val="2D4DF2"/>
            </a:solidFill>
            <a:prstDash val="solid"/>
          </a:ln>
        </p:spPr>
      </p:sp>
      <p:sp>
        <p:nvSpPr>
          <p:cNvPr id="14" name="Text 12"/>
          <p:cNvSpPr/>
          <p:nvPr/>
        </p:nvSpPr>
        <p:spPr>
          <a:xfrm>
            <a:off x="4016067" y="5665294"/>
            <a:ext cx="2872153" cy="215084"/>
          </a:xfrm>
          <a:prstGeom prst="rect">
            <a:avLst/>
          </a:prstGeom>
          <a:noFill/>
          <a:ln/>
        </p:spPr>
        <p:txBody>
          <a:bodyPr wrap="none" lIns="0" tIns="0" rIns="0" bIns="0" rtlCol="0" anchor="t"/>
          <a:lstStyle/>
          <a:p>
            <a:pPr algn="l" indent="0" marL="0">
              <a:lnSpc>
                <a:spcPct val="104000"/>
              </a:lnSpc>
              <a:buNone/>
            </a:pPr>
            <a:r>
              <a:rPr lang="en-US" sz="1350" dirty="0">
                <a:solidFill>
                  <a:srgbClr val="00002E"/>
                </a:solidFill>
                <a:latin typeface="Nunito SemiBold" pitchFamily="34" charset="0"/>
                <a:ea typeface="Nunito SemiBold" pitchFamily="34" charset="-122"/>
                <a:cs typeface="Nunito SemiBold" pitchFamily="34" charset="-120"/>
              </a:rPr>
              <a:t>User-Friendly</a:t>
            </a:r>
            <a:endParaRPr lang="en-US" sz="1350" dirty="0"/>
          </a:p>
        </p:txBody>
      </p:sp>
      <p:sp>
        <p:nvSpPr>
          <p:cNvPr id="15" name="Text 13"/>
          <p:cNvSpPr/>
          <p:nvPr/>
        </p:nvSpPr>
        <p:spPr>
          <a:xfrm>
            <a:off x="4016067" y="5968073"/>
            <a:ext cx="2872153" cy="702115"/>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2E"/>
                </a:solidFill>
                <a:latin typeface="PT Sans" pitchFamily="34" charset="0"/>
                <a:ea typeface="PT Sans" pitchFamily="34" charset="-122"/>
                <a:cs typeface="PT Sans" pitchFamily="34" charset="-120"/>
              </a:rPr>
              <a:t>Responsive design, intuitive navigation, and a clean dashboard ensure an accessible experience for all target users.</a:t>
            </a:r>
            <a:endParaRPr lang="en-US" sz="1150" dirty="0"/>
          </a:p>
        </p:txBody>
      </p:sp>
      <p:sp>
        <p:nvSpPr>
          <p:cNvPr id="16" name="Text 14"/>
          <p:cNvSpPr/>
          <p:nvPr/>
        </p:nvSpPr>
        <p:spPr>
          <a:xfrm>
            <a:off x="511832" y="6996661"/>
            <a:ext cx="6538363" cy="1170192"/>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2E"/>
                </a:solidFill>
                <a:latin typeface="PT Sans" pitchFamily="34" charset="0"/>
                <a:ea typeface="PT Sans" pitchFamily="34" charset="-122"/>
                <a:cs typeface="PT Sans" pitchFamily="34" charset="-120"/>
              </a:rPr>
              <a:t>The planning documented in this architecture overview — including functional and non-functional requirements, user flowcharts, database schema, API design, and technology rationale — provides a solid blueprint for the implementation phase. As development progresses, the modular structure will allow each component to be built, tested, and refined independently, ensuring that the final application meets the objectives of improving productivity through a structured and organized task management system.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2026-07-26T06:44:00Z</dcterms:created>
  <dcterms:modified xsi:type="dcterms:W3CDTF">2026-07-26T06:44:00Z</dcterms:modified>
</cp:coreProperties>
</file>